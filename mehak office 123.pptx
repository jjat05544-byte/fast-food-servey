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3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10436-0F1C-4936-836E-A75EDC1EF553}" v="146" dt="2025-11-02T07:35:14.1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>
      <p:cViewPr varScale="1">
        <p:scale>
          <a:sx n="71" d="100"/>
          <a:sy n="71" d="100"/>
        </p:scale>
        <p:origin x="1445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02D49-BD2B-4B6B-B561-D56AB678298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F3CC8-2D05-4644-9C58-9CCB51206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98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F3CC8-2D05-4644-9C58-9CCB51206F5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546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F3CC8-2D05-4644-9C58-9CCB51206F5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170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901" y="-9330"/>
            <a:ext cx="10725345" cy="7575160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169" y="2649440"/>
            <a:ext cx="6814024" cy="1813981"/>
          </a:xfrm>
        </p:spPr>
        <p:txBody>
          <a:bodyPr anchor="b">
            <a:noAutofit/>
          </a:bodyPr>
          <a:lstStyle>
            <a:lvl1pPr algn="r">
              <a:defRPr sz="59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169" y="4463420"/>
            <a:ext cx="6814024" cy="1208620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502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908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2" y="2975957"/>
            <a:ext cx="7423300" cy="2012622"/>
          </a:xfrm>
        </p:spPr>
        <p:txBody>
          <a:bodyPr anchor="b"/>
          <a:lstStyle>
            <a:lvl1pPr algn="l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2" y="4988577"/>
            <a:ext cx="7423300" cy="948033"/>
          </a:xfrm>
        </p:spPr>
        <p:txBody>
          <a:bodyPr anchor="t"/>
          <a:lstStyle>
            <a:lvl1pPr marL="0" indent="0" algn="l">
              <a:buNone/>
              <a:defRPr sz="220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70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3" y="671689"/>
            <a:ext cx="7423299" cy="14553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894" y="2380649"/>
            <a:ext cx="3611372" cy="4276036"/>
          </a:xfrm>
        </p:spPr>
        <p:txBody>
          <a:bodyPr>
            <a:normAutofit/>
          </a:bodyPr>
          <a:lstStyle>
            <a:lvl1pPr>
              <a:defRPr sz="1983"/>
            </a:lvl1pPr>
            <a:lvl2pPr>
              <a:defRPr sz="1763"/>
            </a:lvl2pPr>
            <a:lvl3pPr>
              <a:defRPr sz="1543"/>
            </a:lvl3pPr>
            <a:lvl4pPr>
              <a:defRPr sz="1322"/>
            </a:lvl4pPr>
            <a:lvl5pPr>
              <a:defRPr sz="1322"/>
            </a:lvl5pPr>
            <a:lvl6pPr>
              <a:defRPr sz="1322"/>
            </a:lvl6pPr>
            <a:lvl7pPr>
              <a:defRPr sz="1322"/>
            </a:lvl7pPr>
            <a:lvl8pPr>
              <a:defRPr sz="1322"/>
            </a:lvl8pPr>
            <a:lvl9pPr>
              <a:defRPr sz="13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24819" y="2380651"/>
            <a:ext cx="3611373" cy="4276037"/>
          </a:xfrm>
        </p:spPr>
        <p:txBody>
          <a:bodyPr>
            <a:normAutofit/>
          </a:bodyPr>
          <a:lstStyle>
            <a:lvl1pPr>
              <a:defRPr sz="1983"/>
            </a:lvl1pPr>
            <a:lvl2pPr>
              <a:defRPr sz="1763"/>
            </a:lvl2pPr>
            <a:lvl3pPr>
              <a:defRPr sz="1543"/>
            </a:lvl3pPr>
            <a:lvl4pPr>
              <a:defRPr sz="1322"/>
            </a:lvl4pPr>
            <a:lvl5pPr>
              <a:defRPr sz="1322"/>
            </a:lvl5pPr>
            <a:lvl6pPr>
              <a:defRPr sz="1322"/>
            </a:lvl6pPr>
            <a:lvl7pPr>
              <a:defRPr sz="1322"/>
            </a:lvl7pPr>
            <a:lvl8pPr>
              <a:defRPr sz="1322"/>
            </a:lvl8pPr>
            <a:lvl9pPr>
              <a:defRPr sz="13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29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3" y="671689"/>
            <a:ext cx="7423298" cy="145532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2" y="2381083"/>
            <a:ext cx="3614369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892" y="3016040"/>
            <a:ext cx="3614369" cy="36406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21821" y="2381083"/>
            <a:ext cx="3614369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21821" y="3016040"/>
            <a:ext cx="3614369" cy="36406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98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2" y="671689"/>
            <a:ext cx="7423299" cy="14553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91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70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2" y="1651240"/>
            <a:ext cx="3262963" cy="1408680"/>
          </a:xfrm>
        </p:spPr>
        <p:txBody>
          <a:bodyPr anchor="b">
            <a:normAutofit/>
          </a:bodyPr>
          <a:lstStyle>
            <a:lvl1pPr>
              <a:defRPr sz="22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6408" y="567372"/>
            <a:ext cx="3959782" cy="608931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892" y="3059919"/>
            <a:ext cx="3262963" cy="2847680"/>
          </a:xfrm>
        </p:spPr>
        <p:txBody>
          <a:bodyPr>
            <a:normAutofit/>
          </a:bodyPr>
          <a:lstStyle>
            <a:lvl1pPr marL="0" indent="0">
              <a:buNone/>
              <a:defRPr sz="1543"/>
            </a:lvl1pPr>
            <a:lvl2pPr marL="377842" indent="0">
              <a:buNone/>
              <a:defRPr sz="1157"/>
            </a:lvl2pPr>
            <a:lvl3pPr marL="755683" indent="0">
              <a:buNone/>
              <a:defRPr sz="992"/>
            </a:lvl3pPr>
            <a:lvl4pPr marL="1133525" indent="0">
              <a:buNone/>
              <a:defRPr sz="826"/>
            </a:lvl4pPr>
            <a:lvl5pPr marL="1511366" indent="0">
              <a:buNone/>
              <a:defRPr sz="826"/>
            </a:lvl5pPr>
            <a:lvl6pPr marL="1889208" indent="0">
              <a:buNone/>
              <a:defRPr sz="826"/>
            </a:lvl6pPr>
            <a:lvl7pPr marL="2267049" indent="0">
              <a:buNone/>
              <a:defRPr sz="826"/>
            </a:lvl7pPr>
            <a:lvl8pPr marL="2644891" indent="0">
              <a:buNone/>
              <a:defRPr sz="826"/>
            </a:lvl8pPr>
            <a:lvl9pPr marL="3022732" indent="0">
              <a:buNone/>
              <a:defRPr sz="82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7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2" y="5289550"/>
            <a:ext cx="7423299" cy="624461"/>
          </a:xfrm>
        </p:spPr>
        <p:txBody>
          <a:bodyPr anchor="b">
            <a:normAutofit/>
          </a:bodyPr>
          <a:lstStyle>
            <a:lvl1pPr algn="l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2892" y="671689"/>
            <a:ext cx="7423299" cy="4237412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2892" y="5914011"/>
            <a:ext cx="7423299" cy="742675"/>
          </a:xfrm>
        </p:spPr>
        <p:txBody>
          <a:bodyPr>
            <a:normAutofit/>
          </a:bodyPr>
          <a:lstStyle>
            <a:lvl1pPr marL="0" indent="0">
              <a:buNone/>
              <a:defRPr sz="1322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7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3" y="671689"/>
            <a:ext cx="7423299" cy="3750263"/>
          </a:xfrm>
        </p:spPr>
        <p:txBody>
          <a:bodyPr anchor="ctr">
            <a:normAutofit/>
          </a:bodyPr>
          <a:lstStyle>
            <a:lvl1pPr algn="l">
              <a:defRPr sz="484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3" y="4925719"/>
            <a:ext cx="7423299" cy="1730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98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01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85" y="671689"/>
            <a:ext cx="7101080" cy="3330457"/>
          </a:xfrm>
        </p:spPr>
        <p:txBody>
          <a:bodyPr anchor="ctr">
            <a:normAutofit/>
          </a:bodyPr>
          <a:lstStyle>
            <a:lvl1pPr algn="l">
              <a:defRPr sz="484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87645" y="4002146"/>
            <a:ext cx="6338160" cy="419806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2" y="4925719"/>
            <a:ext cx="7423300" cy="1730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98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64504" y="870879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060" y="3180557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2419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892" y="2128765"/>
            <a:ext cx="7423300" cy="2859812"/>
          </a:xfrm>
        </p:spPr>
        <p:txBody>
          <a:bodyPr anchor="b">
            <a:normAutofit/>
          </a:bodyPr>
          <a:lstStyle>
            <a:lvl1pPr algn="l">
              <a:defRPr sz="484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2" y="4988577"/>
            <a:ext cx="7423300" cy="1668109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231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85" y="671689"/>
            <a:ext cx="7101080" cy="3330457"/>
          </a:xfrm>
        </p:spPr>
        <p:txBody>
          <a:bodyPr anchor="ctr">
            <a:normAutofit/>
          </a:bodyPr>
          <a:lstStyle>
            <a:lvl1pPr algn="l">
              <a:defRPr sz="484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2890" y="4421952"/>
            <a:ext cx="7423301" cy="56662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2" y="4988577"/>
            <a:ext cx="7423300" cy="1668109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64504" y="870879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060" y="3180557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1672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201" y="671689"/>
            <a:ext cx="7415991" cy="3330457"/>
          </a:xfrm>
        </p:spPr>
        <p:txBody>
          <a:bodyPr anchor="ctr">
            <a:normAutofit/>
          </a:bodyPr>
          <a:lstStyle>
            <a:lvl1pPr algn="l">
              <a:defRPr sz="484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712890" y="4421952"/>
            <a:ext cx="7423301" cy="566625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2" y="4988577"/>
            <a:ext cx="7423300" cy="1668109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697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5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0134" y="671689"/>
            <a:ext cx="1144666" cy="578632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892" y="671689"/>
            <a:ext cx="6075294" cy="57863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502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84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534">
              <a:srgbClr val="C2EBF9"/>
            </a:gs>
            <a:gs pos="49652">
              <a:srgbClr val="CCEEFA"/>
            </a:gs>
            <a:gs pos="42624">
              <a:srgbClr val="D2F0FB"/>
            </a:gs>
            <a:gs pos="15387">
              <a:srgbClr val="EAF8FD"/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9901" y="-9330"/>
            <a:ext cx="10725346" cy="7575160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893" y="671689"/>
            <a:ext cx="7423298" cy="14553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892" y="2380651"/>
            <a:ext cx="7423299" cy="42760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21149" y="6656687"/>
            <a:ext cx="800054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2893" y="6656687"/>
            <a:ext cx="5406310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36690" y="6656687"/>
            <a:ext cx="599502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8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</p:sldLayoutIdLst>
  <p:txStyles>
    <p:titleStyle>
      <a:lvl1pPr algn="l" defTabSz="503789" rtl="0" eaLnBrk="1" latinLnBrk="0" hangingPunct="1">
        <a:spcBef>
          <a:spcPct val="0"/>
        </a:spcBef>
        <a:buNone/>
        <a:defRPr sz="3967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42" indent="-377842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6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59472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763260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267049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jpg"/><Relationship Id="rId7" Type="http://schemas.openxmlformats.org/officeDocument/2006/relationships/image" Target="../media/image4.png"/><Relationship Id="rId12" Type="http://schemas.openxmlformats.org/officeDocument/2006/relationships/image" Target="../media/image1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8.png"/><Relationship Id="rId5" Type="http://schemas.openxmlformats.org/officeDocument/2006/relationships/image" Target="../media/image13.jpg"/><Relationship Id="rId10" Type="http://schemas.openxmlformats.org/officeDocument/2006/relationships/image" Target="../media/image17.png"/><Relationship Id="rId4" Type="http://schemas.openxmlformats.org/officeDocument/2006/relationships/image" Target="../media/image12.jp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jp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2160" y="807847"/>
            <a:ext cx="4891239" cy="592100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1112" y="2610672"/>
            <a:ext cx="4835588" cy="1037848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indent="3175">
              <a:lnSpc>
                <a:spcPts val="3979"/>
              </a:lnSpc>
              <a:spcBef>
                <a:spcPts val="355"/>
              </a:spcBef>
            </a:pPr>
            <a:r>
              <a:rPr sz="3200" spc="21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Fast</a:t>
            </a:r>
            <a:r>
              <a:rPr sz="3200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 </a:t>
            </a:r>
            <a:r>
              <a:rPr sz="3200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Food </a:t>
            </a:r>
            <a:r>
              <a:rPr sz="320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Consumption</a:t>
            </a:r>
            <a:r>
              <a:rPr sz="3200" spc="21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 </a:t>
            </a:r>
            <a:r>
              <a:rPr sz="3200" spc="17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Survey</a:t>
            </a:r>
            <a:endParaRPr sz="3200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112" y="4006850"/>
            <a:ext cx="4497540" cy="394531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b="1" dirty="0"/>
              <a:t>Unhealthy</a:t>
            </a:r>
            <a:r>
              <a:rPr lang="en-US" dirty="0"/>
              <a:t> – Often high in fats, sugar, and calories.</a:t>
            </a:r>
          </a:p>
          <a:p>
            <a:r>
              <a:rPr lang="en-US" b="1" dirty="0"/>
              <a:t>Leads to obesity</a:t>
            </a:r>
            <a:r>
              <a:rPr lang="en-US" dirty="0"/>
              <a:t> – Regular consumption can cause weight gain.</a:t>
            </a:r>
          </a:p>
          <a:p>
            <a:r>
              <a:rPr lang="en-US" b="1" dirty="0"/>
              <a:t>Low nutritional value</a:t>
            </a:r>
            <a:r>
              <a:rPr lang="en-US" dirty="0"/>
              <a:t> – Lacks vitamins, minerals, and fiber.</a:t>
            </a:r>
          </a:p>
          <a:p>
            <a:r>
              <a:rPr lang="en-US" b="1" dirty="0"/>
              <a:t>Can cause diseases</a:t>
            </a:r>
            <a:r>
              <a:rPr lang="en-US" dirty="0"/>
              <a:t> – Linked to heart problems, diabetes, and digestion issues.</a:t>
            </a:r>
          </a:p>
          <a:p>
            <a:r>
              <a:rPr lang="en-US" b="1" dirty="0"/>
              <a:t>Addictive</a:t>
            </a:r>
            <a:r>
              <a:rPr lang="en-US" dirty="0"/>
              <a:t> – Makes people crave it more due to added flavors and salt.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dirty="0">
                <a:latin typeface="Calibri"/>
                <a:cs typeface="Calibri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lang="en-IN"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62426"/>
            <a:ext cx="445558" cy="4455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8545" y="2887069"/>
            <a:ext cx="3148611" cy="29109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7841" y="797894"/>
            <a:ext cx="435656" cy="4356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4866" y="1614428"/>
            <a:ext cx="3037205" cy="88639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5240" marR="5080" indent="-3175">
              <a:lnSpc>
                <a:spcPct val="97100"/>
              </a:lnSpc>
              <a:spcBef>
                <a:spcPts val="160"/>
              </a:spcBef>
            </a:pPr>
            <a:r>
              <a:rPr sz="1450" b="1" spc="-145" dirty="0">
                <a:latin typeface="+mn-lt"/>
                <a:cs typeface="Arial MT"/>
              </a:rPr>
              <a:t>Fast</a:t>
            </a:r>
            <a:r>
              <a:rPr sz="1450" b="1" spc="20" dirty="0">
                <a:latin typeface="+mn-lt"/>
                <a:cs typeface="Arial MT"/>
              </a:rPr>
              <a:t> </a:t>
            </a:r>
            <a:r>
              <a:rPr sz="1450" b="1" spc="-105" dirty="0">
                <a:latin typeface="+mn-lt"/>
                <a:cs typeface="Arial MT"/>
              </a:rPr>
              <a:t>food</a:t>
            </a:r>
            <a:r>
              <a:rPr sz="1450" b="1" spc="-85" dirty="0">
                <a:latin typeface="+mn-lt"/>
                <a:cs typeface="Arial MT"/>
              </a:rPr>
              <a:t> </a:t>
            </a:r>
            <a:r>
              <a:rPr sz="1450" spc="-100" dirty="0">
                <a:latin typeface="+mn-lt"/>
                <a:cs typeface="Arial MT"/>
              </a:rPr>
              <a:t>consists</a:t>
            </a:r>
            <a:r>
              <a:rPr sz="1450" spc="20" dirty="0">
                <a:latin typeface="+mn-lt"/>
                <a:cs typeface="Arial MT"/>
              </a:rPr>
              <a:t> </a:t>
            </a:r>
            <a:r>
              <a:rPr sz="1450" spc="-90" dirty="0">
                <a:latin typeface="+mn-lt"/>
                <a:cs typeface="Arial MT"/>
              </a:rPr>
              <a:t>of</a:t>
            </a:r>
            <a:r>
              <a:rPr sz="1450" spc="-25" dirty="0">
                <a:latin typeface="+mn-lt"/>
                <a:cs typeface="Arial MT"/>
              </a:rPr>
              <a:t> </a:t>
            </a:r>
            <a:r>
              <a:rPr sz="1450" spc="-130" dirty="0">
                <a:latin typeface="+mn-lt"/>
                <a:cs typeface="Arial MT"/>
              </a:rPr>
              <a:t>quickly</a:t>
            </a:r>
            <a:r>
              <a:rPr sz="1450" spc="35" dirty="0">
                <a:latin typeface="+mn-lt"/>
                <a:cs typeface="Arial MT"/>
              </a:rPr>
              <a:t> </a:t>
            </a:r>
            <a:r>
              <a:rPr sz="1450" spc="-25" dirty="0">
                <a:latin typeface="+mn-lt"/>
                <a:cs typeface="Arial MT"/>
              </a:rPr>
              <a:t>prepared </a:t>
            </a:r>
            <a:r>
              <a:rPr sz="1450" spc="-135" dirty="0">
                <a:latin typeface="+mn-lt"/>
                <a:cs typeface="Arial MT"/>
              </a:rPr>
              <a:t>meals,</a:t>
            </a:r>
            <a:r>
              <a:rPr sz="1450" spc="-35" dirty="0">
                <a:latin typeface="+mn-lt"/>
                <a:cs typeface="Arial MT"/>
              </a:rPr>
              <a:t> </a:t>
            </a:r>
            <a:r>
              <a:rPr sz="1450" spc="-100" dirty="0">
                <a:latin typeface="+mn-lt"/>
                <a:cs typeface="Arial MT"/>
              </a:rPr>
              <a:t>often</a:t>
            </a:r>
            <a:r>
              <a:rPr sz="1450" spc="-105" dirty="0">
                <a:latin typeface="+mn-lt"/>
                <a:cs typeface="Arial MT"/>
              </a:rPr>
              <a:t> </a:t>
            </a:r>
            <a:r>
              <a:rPr sz="1450" spc="-130" dirty="0">
                <a:latin typeface="+mn-lt"/>
                <a:cs typeface="Arial MT"/>
              </a:rPr>
              <a:t>high</a:t>
            </a:r>
            <a:r>
              <a:rPr sz="1450" spc="-15" dirty="0">
                <a:latin typeface="+mn-lt"/>
                <a:cs typeface="Arial MT"/>
              </a:rPr>
              <a:t> </a:t>
            </a:r>
            <a:r>
              <a:rPr sz="1450" spc="-120" dirty="0">
                <a:latin typeface="+mn-lt"/>
                <a:cs typeface="Arial MT"/>
              </a:rPr>
              <a:t>in</a:t>
            </a:r>
            <a:r>
              <a:rPr sz="1450" spc="-10" dirty="0">
                <a:latin typeface="+mn-lt"/>
                <a:cs typeface="Arial MT"/>
              </a:rPr>
              <a:t> </a:t>
            </a:r>
            <a:r>
              <a:rPr sz="1450" spc="-125" dirty="0">
                <a:latin typeface="+mn-lt"/>
                <a:cs typeface="Arial MT"/>
              </a:rPr>
              <a:t>calories,</a:t>
            </a:r>
            <a:r>
              <a:rPr sz="1450" spc="35" dirty="0">
                <a:latin typeface="+mn-lt"/>
                <a:cs typeface="Arial MT"/>
              </a:rPr>
              <a:t> </a:t>
            </a:r>
            <a:r>
              <a:rPr sz="1450" spc="-100" dirty="0">
                <a:latin typeface="+mn-lt"/>
                <a:cs typeface="Arial MT"/>
              </a:rPr>
              <a:t>fats,</a:t>
            </a:r>
            <a:r>
              <a:rPr sz="1450" spc="-70" dirty="0">
                <a:latin typeface="+mn-lt"/>
                <a:cs typeface="Arial MT"/>
              </a:rPr>
              <a:t> </a:t>
            </a:r>
            <a:r>
              <a:rPr sz="1450" spc="-10" dirty="0">
                <a:latin typeface="+mn-lt"/>
                <a:cs typeface="Arial MT"/>
              </a:rPr>
              <a:t>sugars, </a:t>
            </a:r>
            <a:r>
              <a:rPr sz="1450" spc="-175" dirty="0">
                <a:latin typeface="+mn-lt"/>
                <a:cs typeface="Arial MT"/>
              </a:rPr>
              <a:t>and</a:t>
            </a:r>
            <a:r>
              <a:rPr sz="1450" spc="20" dirty="0">
                <a:latin typeface="+mn-lt"/>
                <a:cs typeface="Arial MT"/>
              </a:rPr>
              <a:t> </a:t>
            </a:r>
            <a:r>
              <a:rPr sz="1450" spc="-120" dirty="0">
                <a:latin typeface="+mn-lt"/>
                <a:cs typeface="Arial MT"/>
              </a:rPr>
              <a:t>salt,</a:t>
            </a:r>
            <a:r>
              <a:rPr sz="1450" spc="-60" dirty="0">
                <a:latin typeface="+mn-lt"/>
                <a:cs typeface="Arial MT"/>
              </a:rPr>
              <a:t> </a:t>
            </a:r>
            <a:r>
              <a:rPr sz="1450" spc="-105" dirty="0">
                <a:latin typeface="+mn-lt"/>
                <a:cs typeface="Arial MT"/>
              </a:rPr>
              <a:t>typically</a:t>
            </a:r>
            <a:r>
              <a:rPr sz="1450" spc="40" dirty="0">
                <a:latin typeface="+mn-lt"/>
                <a:cs typeface="Arial MT"/>
              </a:rPr>
              <a:t> </a:t>
            </a:r>
            <a:r>
              <a:rPr sz="1450" spc="-120" dirty="0">
                <a:latin typeface="+mn-lt"/>
                <a:cs typeface="Arial MT"/>
              </a:rPr>
              <a:t>offered</a:t>
            </a:r>
            <a:r>
              <a:rPr sz="1450" spc="10" dirty="0">
                <a:latin typeface="+mn-lt"/>
                <a:cs typeface="Arial MT"/>
              </a:rPr>
              <a:t> </a:t>
            </a:r>
            <a:r>
              <a:rPr sz="1450" spc="-120" dirty="0">
                <a:latin typeface="+mn-lt"/>
                <a:cs typeface="Arial MT"/>
              </a:rPr>
              <a:t>in</a:t>
            </a:r>
            <a:r>
              <a:rPr sz="1450" spc="-50" dirty="0">
                <a:latin typeface="+mn-lt"/>
                <a:cs typeface="Arial MT"/>
              </a:rPr>
              <a:t> </a:t>
            </a:r>
            <a:r>
              <a:rPr sz="1450" spc="-120" dirty="0">
                <a:latin typeface="+mn-lt"/>
                <a:cs typeface="Arial MT"/>
              </a:rPr>
              <a:t>restaurants</a:t>
            </a:r>
            <a:r>
              <a:rPr sz="1450" spc="114" dirty="0">
                <a:latin typeface="+mn-lt"/>
                <a:cs typeface="Arial MT"/>
              </a:rPr>
              <a:t> </a:t>
            </a:r>
            <a:r>
              <a:rPr sz="1450" spc="-50" dirty="0">
                <a:latin typeface="+mn-lt"/>
                <a:cs typeface="Arial MT"/>
              </a:rPr>
              <a:t>with </a:t>
            </a:r>
            <a:r>
              <a:rPr sz="1450" spc="-100" dirty="0">
                <a:latin typeface="+mn-lt"/>
                <a:cs typeface="Arial MT"/>
              </a:rPr>
              <a:t>limited</a:t>
            </a:r>
            <a:r>
              <a:rPr sz="1450" dirty="0">
                <a:latin typeface="+mn-lt"/>
                <a:cs typeface="Arial MT"/>
              </a:rPr>
              <a:t> </a:t>
            </a:r>
            <a:r>
              <a:rPr sz="1450" spc="-114" dirty="0">
                <a:latin typeface="+mn-lt"/>
                <a:cs typeface="Arial MT"/>
              </a:rPr>
              <a:t>table</a:t>
            </a:r>
            <a:r>
              <a:rPr sz="1450" spc="-20" dirty="0">
                <a:latin typeface="+mn-lt"/>
                <a:cs typeface="Arial MT"/>
              </a:rPr>
              <a:t> </a:t>
            </a:r>
            <a:r>
              <a:rPr sz="1450" spc="-135" dirty="0">
                <a:latin typeface="+mn-lt"/>
                <a:cs typeface="Arial MT"/>
              </a:rPr>
              <a:t>service</a:t>
            </a:r>
            <a:r>
              <a:rPr sz="1450" spc="10" dirty="0">
                <a:latin typeface="+mn-lt"/>
                <a:cs typeface="Arial MT"/>
              </a:rPr>
              <a:t> </a:t>
            </a:r>
            <a:r>
              <a:rPr sz="1450" spc="-155" dirty="0">
                <a:latin typeface="+mn-lt"/>
                <a:cs typeface="Arial MT"/>
              </a:rPr>
              <a:t>or</a:t>
            </a:r>
            <a:r>
              <a:rPr sz="1450" spc="10" dirty="0">
                <a:latin typeface="+mn-lt"/>
                <a:cs typeface="Arial MT"/>
              </a:rPr>
              <a:t> </a:t>
            </a:r>
            <a:r>
              <a:rPr sz="1450" spc="-160" dirty="0">
                <a:latin typeface="+mn-lt"/>
                <a:cs typeface="Arial MT"/>
              </a:rPr>
              <a:t>as</a:t>
            </a:r>
            <a:r>
              <a:rPr sz="1450" spc="-30" dirty="0">
                <a:latin typeface="+mn-lt"/>
                <a:cs typeface="Arial MT"/>
              </a:rPr>
              <a:t> </a:t>
            </a:r>
            <a:r>
              <a:rPr sz="1450" spc="-10" dirty="0">
                <a:latin typeface="+mn-lt"/>
                <a:cs typeface="Arial MT"/>
              </a:rPr>
              <a:t>takeout.</a:t>
            </a:r>
            <a:endParaRPr sz="1450" dirty="0">
              <a:latin typeface="+mn-l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223" y="2824243"/>
            <a:ext cx="2994660" cy="72891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 marR="5080" indent="-5080">
              <a:lnSpc>
                <a:spcPct val="109900"/>
              </a:lnSpc>
              <a:spcBef>
                <a:spcPts val="90"/>
              </a:spcBef>
            </a:pPr>
            <a:r>
              <a:rPr sz="1450" dirty="0">
                <a:latin typeface="+mn-lt"/>
                <a:cs typeface="Arial MT"/>
              </a:rPr>
              <a:t>Its</a:t>
            </a:r>
            <a:r>
              <a:rPr sz="1450" spc="-95" dirty="0">
                <a:latin typeface="+mn-lt"/>
                <a:cs typeface="Arial MT"/>
              </a:rPr>
              <a:t> </a:t>
            </a:r>
            <a:r>
              <a:rPr sz="1450" b="1" spc="-50" dirty="0">
                <a:latin typeface="+mn-lt"/>
                <a:cs typeface="Arial MT"/>
              </a:rPr>
              <a:t>widespread</a:t>
            </a:r>
            <a:r>
              <a:rPr sz="1450" b="1" spc="15" dirty="0">
                <a:latin typeface="+mn-lt"/>
                <a:cs typeface="Arial MT"/>
              </a:rPr>
              <a:t> </a:t>
            </a:r>
            <a:r>
              <a:rPr sz="1450" b="1" spc="-20" dirty="0">
                <a:latin typeface="+mn-lt"/>
                <a:cs typeface="Arial MT"/>
              </a:rPr>
              <a:t>availability</a:t>
            </a:r>
            <a:r>
              <a:rPr sz="1450" b="1" spc="-30" dirty="0">
                <a:latin typeface="+mn-lt"/>
                <a:cs typeface="Arial MT"/>
              </a:rPr>
              <a:t> </a:t>
            </a:r>
            <a:r>
              <a:rPr sz="1450" spc="-55" dirty="0">
                <a:latin typeface="+mn-lt"/>
                <a:cs typeface="Arial MT"/>
              </a:rPr>
              <a:t>and</a:t>
            </a:r>
            <a:r>
              <a:rPr sz="1450" spc="-65" dirty="0">
                <a:latin typeface="+mn-lt"/>
                <a:cs typeface="Arial MT"/>
              </a:rPr>
              <a:t> </a:t>
            </a:r>
            <a:r>
              <a:rPr sz="1450" spc="-60" dirty="0">
                <a:latin typeface="+mn-lt"/>
                <a:cs typeface="Arial MT"/>
              </a:rPr>
              <a:t>convenience </a:t>
            </a:r>
            <a:r>
              <a:rPr sz="1450" spc="-95" dirty="0">
                <a:latin typeface="+mn-lt"/>
                <a:cs typeface="Arial MT"/>
              </a:rPr>
              <a:t>have</a:t>
            </a:r>
            <a:r>
              <a:rPr sz="1450" dirty="0">
                <a:latin typeface="+mn-lt"/>
                <a:cs typeface="Arial MT"/>
              </a:rPr>
              <a:t> </a:t>
            </a:r>
            <a:r>
              <a:rPr sz="1450" spc="-50" dirty="0">
                <a:latin typeface="+mn-lt"/>
                <a:cs typeface="Arial MT"/>
              </a:rPr>
              <a:t>established</a:t>
            </a:r>
            <a:r>
              <a:rPr sz="1450" spc="65" dirty="0">
                <a:latin typeface="+mn-lt"/>
                <a:cs typeface="Arial MT"/>
              </a:rPr>
              <a:t> </a:t>
            </a:r>
            <a:r>
              <a:rPr sz="1450" dirty="0">
                <a:latin typeface="+mn-lt"/>
                <a:cs typeface="Arial MT"/>
              </a:rPr>
              <a:t>it</a:t>
            </a:r>
            <a:r>
              <a:rPr sz="1450" spc="-10" dirty="0">
                <a:latin typeface="+mn-lt"/>
                <a:cs typeface="Arial MT"/>
              </a:rPr>
              <a:t> </a:t>
            </a:r>
            <a:r>
              <a:rPr sz="1450" spc="-80" dirty="0">
                <a:latin typeface="+mn-lt"/>
                <a:cs typeface="Arial MT"/>
              </a:rPr>
              <a:t>as</a:t>
            </a:r>
            <a:r>
              <a:rPr sz="1450" spc="-20" dirty="0">
                <a:latin typeface="+mn-lt"/>
                <a:cs typeface="Arial MT"/>
              </a:rPr>
              <a:t> </a:t>
            </a:r>
            <a:r>
              <a:rPr sz="1450" spc="-114" dirty="0">
                <a:latin typeface="+mn-lt"/>
                <a:cs typeface="Arial MT"/>
              </a:rPr>
              <a:t>a</a:t>
            </a:r>
            <a:r>
              <a:rPr sz="1450" spc="-25" dirty="0">
                <a:latin typeface="+mn-lt"/>
                <a:cs typeface="Arial MT"/>
              </a:rPr>
              <a:t> </a:t>
            </a:r>
            <a:r>
              <a:rPr sz="1450" spc="-45" dirty="0">
                <a:latin typeface="+mn-lt"/>
                <a:cs typeface="Arial MT"/>
              </a:rPr>
              <a:t>staple</a:t>
            </a:r>
            <a:r>
              <a:rPr sz="1450" spc="-20" dirty="0">
                <a:latin typeface="+mn-lt"/>
                <a:cs typeface="Arial MT"/>
              </a:rPr>
              <a:t> </a:t>
            </a:r>
            <a:r>
              <a:rPr sz="1450" spc="-55" dirty="0">
                <a:latin typeface="+mn-lt"/>
                <a:cs typeface="Arial MT"/>
              </a:rPr>
              <a:t>in</a:t>
            </a:r>
            <a:r>
              <a:rPr sz="1450" spc="-20" dirty="0">
                <a:latin typeface="+mn-lt"/>
                <a:cs typeface="Arial MT"/>
              </a:rPr>
              <a:t> </a:t>
            </a:r>
            <a:r>
              <a:rPr sz="1450" spc="-10" dirty="0">
                <a:latin typeface="+mn-lt"/>
                <a:cs typeface="Arial MT"/>
              </a:rPr>
              <a:t>modern </a:t>
            </a:r>
            <a:r>
              <a:rPr sz="1450" spc="-40" dirty="0">
                <a:latin typeface="+mn-lt"/>
                <a:cs typeface="Arial MT"/>
              </a:rPr>
              <a:t>diets</a:t>
            </a:r>
            <a:r>
              <a:rPr sz="1450" spc="-15" dirty="0">
                <a:latin typeface="+mn-lt"/>
                <a:cs typeface="Arial MT"/>
              </a:rPr>
              <a:t> </a:t>
            </a:r>
            <a:r>
              <a:rPr sz="1450" spc="-10" dirty="0">
                <a:latin typeface="+mn-lt"/>
                <a:cs typeface="Arial MT"/>
              </a:rPr>
              <a:t>worldwide.</a:t>
            </a:r>
            <a:endParaRPr sz="1450" dirty="0">
              <a:latin typeface="+mn-l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941" y="3812517"/>
            <a:ext cx="3065780" cy="211010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8255">
              <a:lnSpc>
                <a:spcPts val="1720"/>
              </a:lnSpc>
              <a:spcBef>
                <a:spcPts val="185"/>
              </a:spcBef>
            </a:pPr>
            <a:r>
              <a:rPr sz="1450" spc="-155" dirty="0">
                <a:latin typeface="+mn-lt"/>
                <a:cs typeface="Arial MT"/>
              </a:rPr>
              <a:t>Studying</a:t>
            </a:r>
            <a:r>
              <a:rPr sz="1450" spc="45" dirty="0">
                <a:latin typeface="+mn-lt"/>
                <a:cs typeface="Arial MT"/>
              </a:rPr>
              <a:t> </a:t>
            </a:r>
            <a:r>
              <a:rPr sz="1450" spc="-80" dirty="0">
                <a:latin typeface="+mn-lt"/>
                <a:cs typeface="Arial MT"/>
              </a:rPr>
              <a:t>fast</a:t>
            </a:r>
            <a:r>
              <a:rPr sz="1450" spc="-30" dirty="0">
                <a:latin typeface="+mn-lt"/>
                <a:cs typeface="Arial MT"/>
              </a:rPr>
              <a:t> </a:t>
            </a:r>
            <a:r>
              <a:rPr sz="1450" spc="-105" dirty="0">
                <a:latin typeface="+mn-lt"/>
                <a:cs typeface="Arial MT"/>
              </a:rPr>
              <a:t>food's</a:t>
            </a:r>
            <a:r>
              <a:rPr sz="1450" spc="-75" dirty="0">
                <a:latin typeface="+mn-lt"/>
                <a:cs typeface="Arial MT"/>
              </a:rPr>
              <a:t> </a:t>
            </a:r>
            <a:r>
              <a:rPr sz="1450" spc="-130" dirty="0">
                <a:latin typeface="+mn-lt"/>
                <a:cs typeface="Arial MT"/>
              </a:rPr>
              <a:t>health</a:t>
            </a:r>
            <a:r>
              <a:rPr sz="1450" spc="-10" dirty="0">
                <a:latin typeface="+mn-lt"/>
                <a:cs typeface="Arial MT"/>
              </a:rPr>
              <a:t> </a:t>
            </a:r>
            <a:r>
              <a:rPr sz="1450" spc="-90" dirty="0">
                <a:latin typeface="+mn-lt"/>
                <a:cs typeface="Arial MT"/>
              </a:rPr>
              <a:t>effects</a:t>
            </a:r>
            <a:r>
              <a:rPr sz="1450" spc="65" dirty="0">
                <a:latin typeface="+mn-lt"/>
                <a:cs typeface="Arial MT"/>
              </a:rPr>
              <a:t> </a:t>
            </a:r>
            <a:r>
              <a:rPr sz="1450" spc="-90" dirty="0">
                <a:solidFill>
                  <a:srgbClr val="181818"/>
                </a:solidFill>
                <a:latin typeface="+mn-lt"/>
                <a:cs typeface="Arial MT"/>
              </a:rPr>
              <a:t>is</a:t>
            </a:r>
            <a:r>
              <a:rPr sz="1450" spc="-15" dirty="0">
                <a:solidFill>
                  <a:srgbClr val="181818"/>
                </a:solidFill>
                <a:latin typeface="+mn-lt"/>
                <a:cs typeface="Arial MT"/>
              </a:rPr>
              <a:t> </a:t>
            </a:r>
            <a:r>
              <a:rPr sz="1450" spc="-10" dirty="0">
                <a:latin typeface="+mn-lt"/>
                <a:cs typeface="Arial MT"/>
              </a:rPr>
              <a:t>vital </a:t>
            </a:r>
            <a:r>
              <a:rPr sz="1450" spc="-190" dirty="0">
                <a:latin typeface="+mn-lt"/>
                <a:cs typeface="Arial MT"/>
              </a:rPr>
              <a:t>due</a:t>
            </a:r>
            <a:r>
              <a:rPr sz="1450" spc="-90" dirty="0">
                <a:latin typeface="+mn-lt"/>
                <a:cs typeface="Arial MT"/>
              </a:rPr>
              <a:t> </a:t>
            </a:r>
            <a:r>
              <a:rPr sz="1450" spc="-45" dirty="0">
                <a:latin typeface="+mn-lt"/>
                <a:cs typeface="Arial MT"/>
              </a:rPr>
              <a:t>to</a:t>
            </a:r>
            <a:r>
              <a:rPr sz="1450" spc="-130" dirty="0">
                <a:latin typeface="+mn-lt"/>
                <a:cs typeface="Arial MT"/>
              </a:rPr>
              <a:t> </a:t>
            </a:r>
            <a:r>
              <a:rPr sz="1450" spc="-45" dirty="0">
                <a:latin typeface="+mn-lt"/>
                <a:cs typeface="Arial MT"/>
              </a:rPr>
              <a:t>its</a:t>
            </a:r>
            <a:r>
              <a:rPr sz="1450" spc="20" dirty="0">
                <a:latin typeface="+mn-lt"/>
                <a:cs typeface="Arial MT"/>
              </a:rPr>
              <a:t> </a:t>
            </a:r>
            <a:r>
              <a:rPr sz="1450" spc="-120" dirty="0">
                <a:latin typeface="+mn-lt"/>
                <a:cs typeface="Arial MT"/>
              </a:rPr>
              <a:t>association</a:t>
            </a:r>
            <a:r>
              <a:rPr sz="1450" spc="60" dirty="0">
                <a:latin typeface="+mn-lt"/>
                <a:cs typeface="Arial MT"/>
              </a:rPr>
              <a:t> </a:t>
            </a:r>
            <a:r>
              <a:rPr sz="1450" spc="-95" dirty="0">
                <a:latin typeface="+mn-lt"/>
                <a:cs typeface="Arial MT"/>
              </a:rPr>
              <a:t>with</a:t>
            </a:r>
            <a:r>
              <a:rPr sz="1450" spc="-65" dirty="0">
                <a:latin typeface="+mn-lt"/>
                <a:cs typeface="Arial MT"/>
              </a:rPr>
              <a:t> </a:t>
            </a:r>
            <a:r>
              <a:rPr sz="1450" spc="-110" dirty="0">
                <a:latin typeface="+mn-lt"/>
                <a:cs typeface="Arial MT"/>
              </a:rPr>
              <a:t>rising</a:t>
            </a:r>
            <a:r>
              <a:rPr sz="1450" spc="-20" dirty="0">
                <a:latin typeface="+mn-lt"/>
                <a:cs typeface="Arial MT"/>
              </a:rPr>
              <a:t> </a:t>
            </a:r>
            <a:r>
              <a:rPr sz="1450" spc="-130" dirty="0">
                <a:solidFill>
                  <a:srgbClr val="1A1A1A"/>
                </a:solidFill>
                <a:latin typeface="+mn-lt"/>
                <a:cs typeface="Arial MT"/>
              </a:rPr>
              <a:t>rates</a:t>
            </a:r>
            <a:r>
              <a:rPr sz="1450" spc="-15" dirty="0">
                <a:solidFill>
                  <a:srgbClr val="1A1A1A"/>
                </a:solidFill>
                <a:latin typeface="+mn-lt"/>
                <a:cs typeface="Arial MT"/>
              </a:rPr>
              <a:t> </a:t>
            </a:r>
            <a:r>
              <a:rPr sz="1450" spc="-25" dirty="0">
                <a:solidFill>
                  <a:srgbClr val="262626"/>
                </a:solidFill>
                <a:latin typeface="+mn-lt"/>
                <a:cs typeface="Arial MT"/>
              </a:rPr>
              <a:t>of </a:t>
            </a:r>
            <a:r>
              <a:rPr sz="1450" b="1" spc="-110" dirty="0">
                <a:latin typeface="+mn-lt"/>
                <a:cs typeface="Arial MT"/>
              </a:rPr>
              <a:t>chronic</a:t>
            </a:r>
            <a:r>
              <a:rPr sz="1450" b="1" dirty="0">
                <a:latin typeface="+mn-lt"/>
                <a:cs typeface="Arial MT"/>
              </a:rPr>
              <a:t> </a:t>
            </a:r>
            <a:r>
              <a:rPr sz="1450" b="1" spc="-125" dirty="0">
                <a:latin typeface="+mn-lt"/>
                <a:cs typeface="Arial MT"/>
              </a:rPr>
              <a:t>diseases</a:t>
            </a:r>
            <a:r>
              <a:rPr sz="1450" spc="75" dirty="0">
                <a:latin typeface="+mn-lt"/>
                <a:cs typeface="Arial MT"/>
              </a:rPr>
              <a:t> </a:t>
            </a:r>
            <a:r>
              <a:rPr sz="1450" spc="-175" dirty="0">
                <a:solidFill>
                  <a:srgbClr val="0C0C0C"/>
                </a:solidFill>
                <a:latin typeface="+mn-lt"/>
                <a:cs typeface="Arial MT"/>
              </a:rPr>
              <a:t>and</a:t>
            </a:r>
            <a:r>
              <a:rPr sz="1450" dirty="0">
                <a:solidFill>
                  <a:srgbClr val="0C0C0C"/>
                </a:solidFill>
                <a:latin typeface="+mn-lt"/>
                <a:cs typeface="Arial MT"/>
              </a:rPr>
              <a:t> </a:t>
            </a:r>
            <a:r>
              <a:rPr sz="1450" spc="-145" dirty="0">
                <a:latin typeface="+mn-lt"/>
                <a:cs typeface="Arial MT"/>
              </a:rPr>
              <a:t>widespread</a:t>
            </a:r>
            <a:r>
              <a:rPr sz="1450" spc="-35" dirty="0">
                <a:latin typeface="+mn-lt"/>
                <a:cs typeface="Arial MT"/>
              </a:rPr>
              <a:t> </a:t>
            </a:r>
            <a:r>
              <a:rPr sz="1450" b="1" spc="-70" dirty="0">
                <a:latin typeface="+mn-lt"/>
                <a:cs typeface="Arial MT"/>
              </a:rPr>
              <a:t>nutritional </a:t>
            </a:r>
            <a:r>
              <a:rPr sz="1450" b="1" spc="-50" dirty="0">
                <a:latin typeface="+mn-lt"/>
                <a:cs typeface="Arial MT"/>
              </a:rPr>
              <a:t>imbalances.</a:t>
            </a:r>
            <a:endParaRPr sz="1450" b="1" dirty="0">
              <a:latin typeface="+mn-lt"/>
              <a:cs typeface="Arial MT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450" dirty="0">
              <a:latin typeface="+mn-lt"/>
              <a:cs typeface="Arial MT"/>
            </a:endParaRPr>
          </a:p>
          <a:p>
            <a:pPr marL="12700" marR="162560" indent="6985">
              <a:lnSpc>
                <a:spcPct val="97100"/>
              </a:lnSpc>
              <a:spcBef>
                <a:spcPts val="5"/>
              </a:spcBef>
            </a:pPr>
            <a:r>
              <a:rPr sz="1450" spc="-160" dirty="0">
                <a:latin typeface="+mn-lt"/>
                <a:cs typeface="Arial MT"/>
              </a:rPr>
              <a:t>Awareness</a:t>
            </a:r>
            <a:r>
              <a:rPr sz="1450" spc="30" dirty="0">
                <a:latin typeface="+mn-lt"/>
                <a:cs typeface="Arial MT"/>
              </a:rPr>
              <a:t> </a:t>
            </a:r>
            <a:r>
              <a:rPr sz="1450" spc="-90" dirty="0">
                <a:latin typeface="+mn-lt"/>
                <a:cs typeface="Arial MT"/>
              </a:rPr>
              <a:t>of</a:t>
            </a:r>
            <a:r>
              <a:rPr sz="1450" spc="5" dirty="0">
                <a:latin typeface="+mn-lt"/>
                <a:cs typeface="Arial MT"/>
              </a:rPr>
              <a:t> </a:t>
            </a:r>
            <a:r>
              <a:rPr sz="1450" spc="-95" dirty="0">
                <a:latin typeface="+mn-lt"/>
                <a:cs typeface="Arial MT"/>
              </a:rPr>
              <a:t>fast</a:t>
            </a:r>
            <a:r>
              <a:rPr sz="1450" spc="45" dirty="0">
                <a:latin typeface="+mn-lt"/>
                <a:cs typeface="Arial MT"/>
              </a:rPr>
              <a:t> </a:t>
            </a:r>
            <a:r>
              <a:rPr sz="1450" spc="-114" dirty="0">
                <a:latin typeface="+mn-lt"/>
                <a:cs typeface="Arial MT"/>
              </a:rPr>
              <a:t>food's</a:t>
            </a:r>
            <a:r>
              <a:rPr sz="1450" spc="-75" dirty="0">
                <a:latin typeface="+mn-lt"/>
                <a:cs typeface="Arial MT"/>
              </a:rPr>
              <a:t> </a:t>
            </a:r>
            <a:r>
              <a:rPr sz="1450" spc="-110" dirty="0">
                <a:latin typeface="+mn-lt"/>
                <a:cs typeface="Arial MT"/>
              </a:rPr>
              <a:t>role</a:t>
            </a:r>
            <a:r>
              <a:rPr sz="1450" spc="-65" dirty="0">
                <a:latin typeface="+mn-lt"/>
                <a:cs typeface="Arial MT"/>
              </a:rPr>
              <a:t> </a:t>
            </a:r>
            <a:r>
              <a:rPr sz="1450" spc="-75" dirty="0">
                <a:solidFill>
                  <a:srgbClr val="1F1F1F"/>
                </a:solidFill>
                <a:latin typeface="+mn-lt"/>
                <a:cs typeface="Arial MT"/>
              </a:rPr>
              <a:t>in</a:t>
            </a:r>
            <a:r>
              <a:rPr sz="1450" spc="-105" dirty="0">
                <a:solidFill>
                  <a:srgbClr val="1F1F1F"/>
                </a:solidFill>
                <a:latin typeface="+mn-lt"/>
                <a:cs typeface="Arial MT"/>
              </a:rPr>
              <a:t> </a:t>
            </a:r>
            <a:r>
              <a:rPr sz="1450" spc="-110" dirty="0">
                <a:latin typeface="+mn-lt"/>
                <a:cs typeface="Arial MT"/>
              </a:rPr>
              <a:t>diet</a:t>
            </a:r>
            <a:r>
              <a:rPr sz="1450" spc="-35" dirty="0">
                <a:latin typeface="+mn-lt"/>
                <a:cs typeface="Arial MT"/>
              </a:rPr>
              <a:t> </a:t>
            </a:r>
            <a:r>
              <a:rPr sz="1450" spc="-25" dirty="0">
                <a:solidFill>
                  <a:srgbClr val="1C1C1C"/>
                </a:solidFill>
                <a:latin typeface="+mn-lt"/>
                <a:cs typeface="Arial MT"/>
              </a:rPr>
              <a:t>is </a:t>
            </a:r>
            <a:r>
              <a:rPr sz="1450" spc="-120" dirty="0">
                <a:latin typeface="+mn-lt"/>
                <a:cs typeface="Arial MT"/>
              </a:rPr>
              <a:t>crucial</a:t>
            </a:r>
            <a:r>
              <a:rPr sz="1450" spc="40" dirty="0">
                <a:latin typeface="+mn-lt"/>
                <a:cs typeface="Arial MT"/>
              </a:rPr>
              <a:t> </a:t>
            </a:r>
            <a:r>
              <a:rPr sz="1450" spc="-90" dirty="0">
                <a:latin typeface="+mn-lt"/>
                <a:cs typeface="Arial MT"/>
              </a:rPr>
              <a:t>for</a:t>
            </a:r>
            <a:r>
              <a:rPr sz="1450" spc="20" dirty="0">
                <a:latin typeface="+mn-lt"/>
                <a:cs typeface="Arial MT"/>
              </a:rPr>
              <a:t> </a:t>
            </a:r>
            <a:r>
              <a:rPr sz="1450" spc="-140" dirty="0">
                <a:latin typeface="+mn-lt"/>
                <a:cs typeface="Arial MT"/>
              </a:rPr>
              <a:t>addressing</a:t>
            </a:r>
            <a:r>
              <a:rPr sz="1450" spc="55" dirty="0">
                <a:latin typeface="+mn-lt"/>
                <a:cs typeface="Arial MT"/>
              </a:rPr>
              <a:t> </a:t>
            </a:r>
            <a:r>
              <a:rPr sz="1450" b="1" spc="-110" dirty="0">
                <a:latin typeface="+mn-lt"/>
                <a:cs typeface="Arial MT"/>
              </a:rPr>
              <a:t>public</a:t>
            </a:r>
            <a:r>
              <a:rPr sz="1450" b="1" spc="20" dirty="0">
                <a:latin typeface="+mn-lt"/>
                <a:cs typeface="Arial MT"/>
              </a:rPr>
              <a:t> </a:t>
            </a:r>
            <a:r>
              <a:rPr sz="1450" b="1" spc="-10" dirty="0">
                <a:latin typeface="+mn-lt"/>
                <a:cs typeface="Arial MT"/>
              </a:rPr>
              <a:t>health </a:t>
            </a:r>
            <a:r>
              <a:rPr sz="1450" b="1" spc="-120" dirty="0">
                <a:latin typeface="+mn-lt"/>
                <a:cs typeface="Arial MT"/>
              </a:rPr>
              <a:t>challenges</a:t>
            </a:r>
            <a:r>
              <a:rPr sz="1450" b="1" spc="100" dirty="0">
                <a:latin typeface="+mn-lt"/>
                <a:cs typeface="Arial MT"/>
              </a:rPr>
              <a:t> </a:t>
            </a:r>
            <a:r>
              <a:rPr sz="1450" spc="-125" dirty="0">
                <a:latin typeface="+mn-lt"/>
                <a:cs typeface="Arial MT"/>
              </a:rPr>
              <a:t>linked</a:t>
            </a:r>
            <a:r>
              <a:rPr sz="1450" spc="-10" dirty="0">
                <a:latin typeface="+mn-lt"/>
                <a:cs typeface="Arial MT"/>
              </a:rPr>
              <a:t> </a:t>
            </a:r>
            <a:r>
              <a:rPr sz="1450" spc="-90" dirty="0">
                <a:solidFill>
                  <a:srgbClr val="0E0E0E"/>
                </a:solidFill>
                <a:latin typeface="+mn-lt"/>
                <a:cs typeface="Arial MT"/>
              </a:rPr>
              <a:t>to</a:t>
            </a:r>
            <a:r>
              <a:rPr sz="1450" spc="-65" dirty="0">
                <a:solidFill>
                  <a:srgbClr val="0E0E0E"/>
                </a:solidFill>
                <a:latin typeface="+mn-lt"/>
                <a:cs typeface="Arial MT"/>
              </a:rPr>
              <a:t> </a:t>
            </a:r>
            <a:r>
              <a:rPr sz="1450" spc="-135" dirty="0">
                <a:latin typeface="+mn-lt"/>
                <a:cs typeface="Arial MT"/>
              </a:rPr>
              <a:t>obesity,</a:t>
            </a:r>
            <a:r>
              <a:rPr sz="1450" spc="-40" dirty="0">
                <a:latin typeface="+mn-lt"/>
                <a:cs typeface="Arial MT"/>
              </a:rPr>
              <a:t> </a:t>
            </a:r>
            <a:r>
              <a:rPr sz="1450" spc="-125" dirty="0">
                <a:latin typeface="+mn-lt"/>
                <a:cs typeface="Arial MT"/>
              </a:rPr>
              <a:t>diabetes,</a:t>
            </a:r>
            <a:r>
              <a:rPr sz="1450" spc="-15" dirty="0">
                <a:latin typeface="+mn-lt"/>
                <a:cs typeface="Arial MT"/>
              </a:rPr>
              <a:t> </a:t>
            </a:r>
            <a:r>
              <a:rPr sz="1450" spc="-120" dirty="0">
                <a:latin typeface="+mn-lt"/>
                <a:cs typeface="Arial MT"/>
              </a:rPr>
              <a:t>and </a:t>
            </a:r>
            <a:r>
              <a:rPr sz="1450" spc="-114" dirty="0">
                <a:latin typeface="+mn-lt"/>
                <a:cs typeface="Arial MT"/>
              </a:rPr>
              <a:t>cardiovascular</a:t>
            </a:r>
            <a:r>
              <a:rPr sz="1450" spc="-30" dirty="0">
                <a:latin typeface="+mn-lt"/>
                <a:cs typeface="Arial MT"/>
              </a:rPr>
              <a:t> </a:t>
            </a:r>
            <a:r>
              <a:rPr sz="1450" spc="-25" dirty="0">
                <a:latin typeface="+mn-lt"/>
                <a:cs typeface="Arial MT"/>
              </a:rPr>
              <a:t>conditions.</a:t>
            </a:r>
            <a:endParaRPr sz="1450" dirty="0">
              <a:latin typeface="+mn-l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563458" y="2221322"/>
            <a:ext cx="2607945" cy="2610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algn="r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+mj-lt"/>
              </a:rPr>
              <a:t>UNDERSTANDING</a:t>
            </a:r>
            <a:endParaRPr sz="2800" b="1" dirty="0">
              <a:latin typeface="+mj-lt"/>
            </a:endParaRPr>
          </a:p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+mj-lt"/>
              </a:rPr>
              <a:t>F</a:t>
            </a:r>
            <a:r>
              <a:rPr lang="en-IN" sz="2800" b="1" dirty="0">
                <a:latin typeface="+mj-lt"/>
              </a:rPr>
              <a:t>AST </a:t>
            </a:r>
            <a:r>
              <a:rPr sz="2800" b="1" dirty="0">
                <a:latin typeface="+mj-lt"/>
              </a:rPr>
              <a:t> Food's Role</a:t>
            </a:r>
            <a:br>
              <a:rPr lang="en-IN" sz="2800" b="1" dirty="0">
                <a:latin typeface="+mj-lt"/>
              </a:rPr>
            </a:br>
            <a:r>
              <a:rPr lang="en-IN" sz="2800" b="1" dirty="0">
                <a:latin typeface="+mj-lt"/>
              </a:rPr>
              <a:t>and Health</a:t>
            </a:r>
            <a:br>
              <a:rPr lang="en-IN" sz="2800" b="1" dirty="0">
                <a:latin typeface="+mj-lt"/>
              </a:rPr>
            </a:br>
            <a:r>
              <a:rPr lang="en-IN" sz="2800" b="1" dirty="0">
                <a:latin typeface="+mj-lt"/>
              </a:rPr>
              <a:t>Consequences</a:t>
            </a:r>
            <a:endParaRPr sz="2700" b="1" dirty="0">
              <a:latin typeface="+mj-l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37500" y="5149850"/>
            <a:ext cx="2464423" cy="10954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04215" marR="6350" indent="-692150">
              <a:lnSpc>
                <a:spcPct val="112200"/>
              </a:lnSpc>
              <a:spcBef>
                <a:spcPts val="675"/>
              </a:spcBef>
            </a:pPr>
            <a:r>
              <a:rPr lang="en-IN" sz="1600" spc="-70" dirty="0">
                <a:solidFill>
                  <a:srgbClr val="525252"/>
                </a:solidFill>
                <a:latin typeface="+mn-lt"/>
                <a:cs typeface="Arial MT"/>
              </a:rPr>
              <a:t>The</a:t>
            </a:r>
            <a:r>
              <a:rPr lang="en-IN" sz="1600" spc="25" dirty="0">
                <a:solidFill>
                  <a:srgbClr val="525252"/>
                </a:solidFill>
                <a:latin typeface="+mn-lt"/>
                <a:cs typeface="Arial MT"/>
              </a:rPr>
              <a:t> </a:t>
            </a:r>
            <a:r>
              <a:rPr lang="en-IN" sz="1600" spc="-40" dirty="0">
                <a:solidFill>
                  <a:srgbClr val="4B4B4B"/>
                </a:solidFill>
                <a:latin typeface="+mn-lt"/>
                <a:cs typeface="Arial MT"/>
              </a:rPr>
              <a:t>growing</a:t>
            </a:r>
            <a:r>
              <a:rPr lang="en-IN" sz="1600" dirty="0">
                <a:solidFill>
                  <a:srgbClr val="4B4B4B"/>
                </a:solidFill>
                <a:cs typeface="Arial MT"/>
              </a:rPr>
              <a:t> influence </a:t>
            </a:r>
            <a:r>
              <a:rPr sz="1600" dirty="0">
                <a:solidFill>
                  <a:srgbClr val="444444"/>
                </a:solidFill>
                <a:latin typeface="+mn-lt"/>
                <a:cs typeface="Arial MT"/>
              </a:rPr>
              <a:t>of</a:t>
            </a:r>
            <a:r>
              <a:rPr sz="1600" spc="40" dirty="0">
                <a:solidFill>
                  <a:srgbClr val="444444"/>
                </a:solidFill>
                <a:latin typeface="+mn-lt"/>
                <a:cs typeface="Arial MT"/>
              </a:rPr>
              <a:t> </a:t>
            </a:r>
            <a:r>
              <a:rPr sz="1600" dirty="0">
                <a:solidFill>
                  <a:srgbClr val="444444"/>
                </a:solidFill>
                <a:latin typeface="+mn-lt"/>
                <a:cs typeface="Arial MT"/>
              </a:rPr>
              <a:t>fasi</a:t>
            </a:r>
            <a:r>
              <a:rPr sz="1600" spc="-55" dirty="0">
                <a:solidFill>
                  <a:srgbClr val="444444"/>
                </a:solidFill>
                <a:latin typeface="+mn-lt"/>
                <a:cs typeface="Arial MT"/>
              </a:rPr>
              <a:t> </a:t>
            </a:r>
            <a:r>
              <a:rPr sz="1600" spc="-65" dirty="0">
                <a:solidFill>
                  <a:srgbClr val="4F4F4F"/>
                </a:solidFill>
                <a:latin typeface="+mn-lt"/>
                <a:cs typeface="Arial MT"/>
              </a:rPr>
              <a:t>fooc!</a:t>
            </a:r>
            <a:r>
              <a:rPr sz="1600" spc="5" dirty="0">
                <a:solidFill>
                  <a:srgbClr val="4F4F4F"/>
                </a:solidFill>
                <a:latin typeface="+mn-lt"/>
                <a:cs typeface="Arial MT"/>
              </a:rPr>
              <a:t> </a:t>
            </a:r>
            <a:r>
              <a:rPr sz="1600" spc="-35" dirty="0">
                <a:solidFill>
                  <a:srgbClr val="494949"/>
                </a:solidFill>
                <a:latin typeface="+mn-lt"/>
                <a:cs typeface="Arial MT"/>
              </a:rPr>
              <a:t>on</a:t>
            </a:r>
            <a:r>
              <a:rPr sz="1600" spc="-80" dirty="0">
                <a:solidFill>
                  <a:srgbClr val="494949"/>
                </a:solidFill>
                <a:latin typeface="+mn-lt"/>
                <a:cs typeface="Arial MT"/>
              </a:rPr>
              <a:t> </a:t>
            </a:r>
            <a:r>
              <a:rPr sz="1600" spc="-10" dirty="0">
                <a:solidFill>
                  <a:srgbClr val="505050"/>
                </a:solidFill>
                <a:latin typeface="+mn-lt"/>
                <a:cs typeface="Arial MT"/>
              </a:rPr>
              <a:t>global </a:t>
            </a:r>
            <a:r>
              <a:rPr sz="1600" spc="-25" dirty="0">
                <a:solidFill>
                  <a:srgbClr val="484848"/>
                </a:solidFill>
                <a:latin typeface="+mn-lt"/>
                <a:cs typeface="Arial MT"/>
              </a:rPr>
              <a:t>diets</a:t>
            </a:r>
            <a:r>
              <a:rPr sz="1600" spc="-15" dirty="0">
                <a:solidFill>
                  <a:srgbClr val="484848"/>
                </a:solidFill>
                <a:latin typeface="+mn-lt"/>
                <a:cs typeface="Arial MT"/>
              </a:rPr>
              <a:t> </a:t>
            </a:r>
            <a:r>
              <a:rPr sz="1600" spc="-60" dirty="0">
                <a:solidFill>
                  <a:srgbClr val="626262"/>
                </a:solidFill>
                <a:latin typeface="+mn-lt"/>
                <a:cs typeface="Arial MT"/>
              </a:rPr>
              <a:t>and</a:t>
            </a:r>
            <a:r>
              <a:rPr sz="1600" spc="-70" dirty="0">
                <a:solidFill>
                  <a:srgbClr val="626262"/>
                </a:solidFill>
                <a:latin typeface="+mn-lt"/>
                <a:cs typeface="Arial MT"/>
              </a:rPr>
              <a:t> </a:t>
            </a:r>
            <a:r>
              <a:rPr sz="1600" spc="-25" dirty="0">
                <a:solidFill>
                  <a:srgbClr val="4D4D4D"/>
                </a:solidFill>
                <a:latin typeface="+mn-lt"/>
                <a:cs typeface="Arial MT"/>
              </a:rPr>
              <a:t>chronic</a:t>
            </a:r>
            <a:r>
              <a:rPr sz="1600" spc="80" dirty="0">
                <a:solidFill>
                  <a:srgbClr val="4D4D4D"/>
                </a:solidFill>
                <a:latin typeface="+mn-lt"/>
                <a:cs typeface="Arial MT"/>
              </a:rPr>
              <a:t> </a:t>
            </a:r>
            <a:r>
              <a:rPr sz="1600" spc="-55" dirty="0">
                <a:solidFill>
                  <a:srgbClr val="4D4D4D"/>
                </a:solidFill>
                <a:latin typeface="+mn-lt"/>
                <a:cs typeface="Arial MT"/>
              </a:rPr>
              <a:t>disease</a:t>
            </a:r>
            <a:r>
              <a:rPr sz="1600" spc="-75" dirty="0">
                <a:solidFill>
                  <a:srgbClr val="4D4D4D"/>
                </a:solidFill>
                <a:latin typeface="+mn-lt"/>
                <a:cs typeface="Arial MT"/>
              </a:rPr>
              <a:t> </a:t>
            </a:r>
            <a:r>
              <a:rPr sz="1600" spc="-10" dirty="0">
                <a:solidFill>
                  <a:srgbClr val="464646"/>
                </a:solidFill>
                <a:latin typeface="+mn-lt"/>
                <a:cs typeface="Arial MT"/>
              </a:rPr>
              <a:t>trends</a:t>
            </a:r>
            <a:endParaRPr sz="1600" dirty="0">
              <a:latin typeface="+mn-lt"/>
              <a:cs typeface="Arial M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407" y="783081"/>
            <a:ext cx="277236" cy="39506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2919" y="1297954"/>
            <a:ext cx="5435812" cy="47031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4501" y="2851320"/>
            <a:ext cx="3028950" cy="128333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635">
              <a:lnSpc>
                <a:spcPct val="106200"/>
              </a:lnSpc>
              <a:spcBef>
                <a:spcPts val="60"/>
              </a:spcBef>
            </a:pPr>
            <a:r>
              <a:rPr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Critic</a:t>
            </a:r>
            <a:r>
              <a:rPr lang="en-I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</a:t>
            </a:r>
            <a:r>
              <a:rPr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l He</a:t>
            </a:r>
            <a:r>
              <a:rPr lang="en-I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</a:t>
            </a:r>
            <a:r>
              <a:rPr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lth Risks</a:t>
            </a:r>
            <a:r>
              <a:rPr lang="en-IN" sz="2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Regular fast </a:t>
            </a:r>
            <a:r>
              <a:rPr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Food In</a:t>
            </a:r>
            <a:r>
              <a:rPr lang="en-IN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take </a:t>
            </a:r>
            <a:endParaRPr sz="26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134" y="4218127"/>
            <a:ext cx="2948940" cy="38145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" marR="5080" indent="-12065">
              <a:lnSpc>
                <a:spcPct val="117600"/>
              </a:lnSpc>
              <a:spcBef>
                <a:spcPts val="95"/>
              </a:spcBef>
            </a:pPr>
            <a:r>
              <a:rPr sz="1050" spc="-10" dirty="0">
                <a:solidFill>
                  <a:srgbClr val="4D4D4D"/>
                </a:solidFill>
                <a:latin typeface="+mn-lt"/>
                <a:cs typeface="Arial MT"/>
              </a:rPr>
              <a:t>Understanding</a:t>
            </a:r>
            <a:r>
              <a:rPr sz="1050" spc="15" dirty="0">
                <a:solidFill>
                  <a:srgbClr val="4D4D4D"/>
                </a:solidFill>
                <a:latin typeface="+mn-lt"/>
                <a:cs typeface="Arial MT"/>
              </a:rPr>
              <a:t> </a:t>
            </a:r>
            <a:r>
              <a:rPr sz="1050" dirty="0">
                <a:solidFill>
                  <a:srgbClr val="606060"/>
                </a:solidFill>
                <a:latin typeface="+mn-lt"/>
                <a:cs typeface="Arial MT"/>
              </a:rPr>
              <a:t>how</a:t>
            </a:r>
            <a:r>
              <a:rPr sz="1050" spc="40" dirty="0">
                <a:solidFill>
                  <a:srgbClr val="606060"/>
                </a:solidFill>
                <a:latin typeface="+mn-lt"/>
                <a:cs typeface="Arial MT"/>
              </a:rPr>
              <a:t> </a:t>
            </a:r>
            <a:r>
              <a:rPr sz="1050" dirty="0">
                <a:solidFill>
                  <a:srgbClr val="444444"/>
                </a:solidFill>
                <a:latin typeface="+mn-lt"/>
                <a:cs typeface="Arial MT"/>
              </a:rPr>
              <a:t>fast</a:t>
            </a:r>
            <a:r>
              <a:rPr sz="1050" spc="-45" dirty="0">
                <a:solidFill>
                  <a:srgbClr val="444444"/>
                </a:solidFill>
                <a:latin typeface="+mn-lt"/>
                <a:cs typeface="Arial MT"/>
              </a:rPr>
              <a:t> </a:t>
            </a:r>
            <a:r>
              <a:rPr sz="1050" dirty="0">
                <a:solidFill>
                  <a:srgbClr val="646464"/>
                </a:solidFill>
                <a:latin typeface="+mn-lt"/>
                <a:cs typeface="Arial MT"/>
              </a:rPr>
              <a:t>food</a:t>
            </a:r>
            <a:r>
              <a:rPr sz="1050" spc="-55" dirty="0">
                <a:solidFill>
                  <a:srgbClr val="646464"/>
                </a:solidFill>
                <a:latin typeface="+mn-lt"/>
                <a:cs typeface="Arial MT"/>
              </a:rPr>
              <a:t> </a:t>
            </a:r>
            <a:r>
              <a:rPr sz="1050" dirty="0">
                <a:solidFill>
                  <a:srgbClr val="565656"/>
                </a:solidFill>
                <a:latin typeface="+mn-lt"/>
                <a:cs typeface="Arial MT"/>
              </a:rPr>
              <a:t>components</a:t>
            </a:r>
            <a:r>
              <a:rPr sz="1050" spc="50" dirty="0">
                <a:solidFill>
                  <a:srgbClr val="565656"/>
                </a:solidFill>
                <a:latin typeface="+mn-lt"/>
                <a:cs typeface="Arial MT"/>
              </a:rPr>
              <a:t> </a:t>
            </a:r>
            <a:r>
              <a:rPr sz="1050" spc="-10" dirty="0">
                <a:solidFill>
                  <a:srgbClr val="4D4D4D"/>
                </a:solidFill>
                <a:latin typeface="+mn-lt"/>
                <a:cs typeface="Arial MT"/>
              </a:rPr>
              <a:t>directly </a:t>
            </a:r>
            <a:r>
              <a:rPr sz="1050" dirty="0">
                <a:solidFill>
                  <a:srgbClr val="575757"/>
                </a:solidFill>
                <a:latin typeface="+mn-lt"/>
                <a:cs typeface="Arial MT"/>
              </a:rPr>
              <a:t>impact</a:t>
            </a:r>
            <a:r>
              <a:rPr sz="1050" spc="10" dirty="0">
                <a:solidFill>
                  <a:srgbClr val="575757"/>
                </a:solidFill>
                <a:latin typeface="+mn-lt"/>
                <a:cs typeface="Arial MT"/>
              </a:rPr>
              <a:t> </a:t>
            </a:r>
            <a:r>
              <a:rPr sz="1050" dirty="0">
                <a:solidFill>
                  <a:srgbClr val="444444"/>
                </a:solidFill>
                <a:latin typeface="+mn-lt"/>
                <a:cs typeface="Arial MT"/>
              </a:rPr>
              <a:t>chronic</a:t>
            </a:r>
            <a:r>
              <a:rPr sz="1050" spc="95" dirty="0">
                <a:solidFill>
                  <a:srgbClr val="444444"/>
                </a:solidFill>
                <a:latin typeface="+mn-lt"/>
                <a:cs typeface="Arial MT"/>
              </a:rPr>
              <a:t> </a:t>
            </a:r>
            <a:r>
              <a:rPr sz="1050" spc="-20" dirty="0">
                <a:solidFill>
                  <a:srgbClr val="4F4F4F"/>
                </a:solidFill>
                <a:latin typeface="+mn-lt"/>
                <a:cs typeface="Arial MT"/>
              </a:rPr>
              <a:t>disease</a:t>
            </a:r>
            <a:r>
              <a:rPr sz="1050" spc="-25" dirty="0">
                <a:solidFill>
                  <a:srgbClr val="4F4F4F"/>
                </a:solidFill>
                <a:latin typeface="+mn-lt"/>
                <a:cs typeface="Arial MT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+mn-lt"/>
                <a:cs typeface="Arial MT"/>
              </a:rPr>
              <a:t>development</a:t>
            </a:r>
            <a:endParaRPr sz="1050" dirty="0">
              <a:latin typeface="+mn-l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290" y="1356309"/>
            <a:ext cx="878881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96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Survey </a:t>
            </a:r>
            <a:r>
              <a:rPr sz="2800" b="1" spc="-4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Scope,</a:t>
            </a:r>
            <a:r>
              <a:rPr sz="2800" b="1" spc="-23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Go</a:t>
            </a:r>
            <a:r>
              <a:rPr lang="en-IN"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</a:t>
            </a: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ls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,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an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d </a:t>
            </a:r>
            <a:r>
              <a:rPr sz="2800" b="1" spc="5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Methodology</a:t>
            </a:r>
            <a:r>
              <a:rPr sz="2800" b="1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Overview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0185" y="3021294"/>
            <a:ext cx="2453751" cy="6494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2540" rIns="0" bIns="0" rtlCol="0">
            <a:spAutoFit/>
          </a:bodyPr>
          <a:lstStyle/>
          <a:p>
            <a:pPr marL="12065" marR="5080" indent="9525" algn="ctr">
              <a:lnSpc>
                <a:spcPts val="1720"/>
              </a:lnSpc>
              <a:spcBef>
                <a:spcPts val="20"/>
              </a:spcBef>
            </a:pPr>
            <a:r>
              <a:rPr sz="1400" dirty="0">
                <a:latin typeface="+mn-lt"/>
                <a:cs typeface="Calibri"/>
              </a:rPr>
              <a:t>Purpose</a:t>
            </a:r>
            <a:r>
              <a:rPr sz="1400" spc="50" dirty="0">
                <a:latin typeface="+mn-lt"/>
                <a:cs typeface="Calibri"/>
              </a:rPr>
              <a:t> </a:t>
            </a:r>
            <a:r>
              <a:rPr sz="1400" dirty="0">
                <a:latin typeface="+mn-lt"/>
                <a:cs typeface="Calibri"/>
              </a:rPr>
              <a:t>to</a:t>
            </a:r>
            <a:r>
              <a:rPr sz="1400" spc="25" dirty="0">
                <a:latin typeface="+mn-lt"/>
                <a:cs typeface="Calibri"/>
              </a:rPr>
              <a:t> </a:t>
            </a:r>
            <a:r>
              <a:rPr sz="1400" spc="60" dirty="0">
                <a:latin typeface="+mn-lt"/>
                <a:cs typeface="Calibri"/>
              </a:rPr>
              <a:t>assess</a:t>
            </a:r>
            <a:r>
              <a:rPr sz="1400" spc="105" dirty="0">
                <a:latin typeface="+mn-lt"/>
                <a:cs typeface="Calibri"/>
              </a:rPr>
              <a:t> </a:t>
            </a:r>
            <a:r>
              <a:rPr sz="1400" dirty="0">
                <a:latin typeface="+mn-lt"/>
                <a:cs typeface="Calibri"/>
              </a:rPr>
              <a:t>fast</a:t>
            </a:r>
            <a:r>
              <a:rPr sz="1400" spc="105" dirty="0">
                <a:latin typeface="+mn-lt"/>
                <a:cs typeface="Calibri"/>
              </a:rPr>
              <a:t> </a:t>
            </a:r>
            <a:r>
              <a:rPr sz="1400" spc="-20" dirty="0">
                <a:latin typeface="+mn-lt"/>
                <a:cs typeface="Calibri"/>
              </a:rPr>
              <a:t>food </a:t>
            </a:r>
            <a:r>
              <a:rPr sz="1400" spc="-60" dirty="0">
                <a:latin typeface="+mn-lt"/>
                <a:cs typeface="Arial MT"/>
              </a:rPr>
              <a:t>consumption</a:t>
            </a:r>
            <a:r>
              <a:rPr sz="1400" spc="35" dirty="0">
                <a:latin typeface="+mn-lt"/>
                <a:cs typeface="Arial MT"/>
              </a:rPr>
              <a:t> </a:t>
            </a:r>
            <a:r>
              <a:rPr lang="en-IN" sz="1400" spc="-55" dirty="0">
                <a:latin typeface="+mn-lt"/>
                <a:cs typeface="Arial MT"/>
              </a:rPr>
              <a:t>patterns</a:t>
            </a:r>
            <a:r>
              <a:rPr sz="1400" dirty="0">
                <a:latin typeface="+mn-lt"/>
                <a:cs typeface="Arial MT"/>
              </a:rPr>
              <a:t> </a:t>
            </a:r>
            <a:r>
              <a:rPr sz="1400" spc="-110" dirty="0">
                <a:latin typeface="+mn-lt"/>
                <a:cs typeface="Arial MT"/>
              </a:rPr>
              <a:t>and</a:t>
            </a:r>
            <a:r>
              <a:rPr sz="1400" spc="-50" dirty="0">
                <a:latin typeface="+mn-lt"/>
                <a:cs typeface="Arial MT"/>
              </a:rPr>
              <a:t> their </a:t>
            </a:r>
            <a:r>
              <a:rPr sz="1400" spc="-35" dirty="0">
                <a:latin typeface="+mn-lt"/>
                <a:cs typeface="Arial MT"/>
              </a:rPr>
              <a:t>correlation</a:t>
            </a:r>
            <a:r>
              <a:rPr sz="1400" spc="15" dirty="0">
                <a:latin typeface="+mn-lt"/>
                <a:cs typeface="Arial MT"/>
              </a:rPr>
              <a:t> </a:t>
            </a:r>
            <a:r>
              <a:rPr sz="1400" spc="-40" dirty="0">
                <a:latin typeface="+mn-lt"/>
                <a:cs typeface="Arial MT"/>
              </a:rPr>
              <a:t>with</a:t>
            </a:r>
            <a:r>
              <a:rPr sz="1400" spc="-90" dirty="0">
                <a:latin typeface="+mn-lt"/>
                <a:cs typeface="Arial MT"/>
              </a:rPr>
              <a:t> </a:t>
            </a:r>
            <a:r>
              <a:rPr sz="1400" spc="-50" dirty="0">
                <a:latin typeface="+mn-lt"/>
                <a:cs typeface="Arial MT"/>
              </a:rPr>
              <a:t>health</a:t>
            </a:r>
            <a:r>
              <a:rPr sz="1400" spc="-15" dirty="0">
                <a:latin typeface="+mn-lt"/>
                <a:cs typeface="Arial MT"/>
              </a:rPr>
              <a:t> </a:t>
            </a:r>
            <a:r>
              <a:rPr sz="1400" spc="-10" dirty="0">
                <a:latin typeface="+mn-lt"/>
                <a:cs typeface="Arial MT"/>
              </a:rPr>
              <a:t>metrics</a:t>
            </a:r>
            <a:endParaRPr lang="en-IN" sz="1400" spc="-10" dirty="0">
              <a:latin typeface="+mn-l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32100" y="1843868"/>
            <a:ext cx="4876800" cy="41485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1200" b="1" dirty="0">
                <a:solidFill>
                  <a:srgbClr val="4F4F4F"/>
                </a:solidFill>
                <a:latin typeface="Arial MT"/>
                <a:cs typeface="Arial MT"/>
              </a:rPr>
              <a:t>Comprehensive</a:t>
            </a:r>
            <a:r>
              <a:rPr sz="1200" b="1" spc="27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565656"/>
                </a:solidFill>
                <a:latin typeface="Arial MT"/>
                <a:cs typeface="Arial MT"/>
              </a:rPr>
              <a:t>insights</a:t>
            </a:r>
            <a:r>
              <a:rPr sz="1200" b="1" spc="195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606060"/>
                </a:solidFill>
                <a:latin typeface="Arial MT"/>
                <a:cs typeface="Arial MT"/>
              </a:rPr>
              <a:t>on</a:t>
            </a:r>
            <a:r>
              <a:rPr sz="1200" b="1" spc="45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F4F4F"/>
                </a:solidFill>
                <a:latin typeface="Arial MT"/>
                <a:cs typeface="Arial MT"/>
              </a:rPr>
              <a:t>fast</a:t>
            </a:r>
            <a:r>
              <a:rPr sz="1200" b="1" spc="23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F4F4F"/>
                </a:solidFill>
                <a:latin typeface="Arial MT"/>
                <a:cs typeface="Arial MT"/>
              </a:rPr>
              <a:t>food</a:t>
            </a:r>
            <a:r>
              <a:rPr sz="1200" b="1" spc="11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4F4F4F"/>
                </a:solidFill>
                <a:latin typeface="Arial MT"/>
                <a:cs typeface="Arial MT"/>
              </a:rPr>
              <a:t>consumption</a:t>
            </a:r>
            <a:r>
              <a:rPr sz="1200" b="1" spc="22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676767"/>
                </a:solidFill>
                <a:latin typeface="Arial MT"/>
                <a:cs typeface="Arial MT"/>
              </a:rPr>
              <a:t>and</a:t>
            </a:r>
            <a:r>
              <a:rPr sz="1200" b="1" spc="80" dirty="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sz="1200" b="1" dirty="0">
                <a:solidFill>
                  <a:srgbClr val="505050"/>
                </a:solidFill>
                <a:latin typeface="Arial MT"/>
                <a:cs typeface="Arial MT"/>
              </a:rPr>
              <a:t>health</a:t>
            </a:r>
            <a:r>
              <a:rPr sz="1200" b="1" spc="3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1200" b="1" spc="-10" dirty="0">
                <a:solidFill>
                  <a:srgbClr val="4B4B4B"/>
                </a:solidFill>
                <a:latin typeface="Arial MT"/>
                <a:cs typeface="Arial MT"/>
              </a:rPr>
              <a:t>correlations</a:t>
            </a:r>
            <a:endParaRPr sz="1200" b="1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7930" y="5020793"/>
            <a:ext cx="2782570" cy="7033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pPr marL="12065" marR="5080" indent="-1270" algn="ctr">
              <a:lnSpc>
                <a:spcPct val="108300"/>
              </a:lnSpc>
              <a:spcBef>
                <a:spcPts val="125"/>
              </a:spcBef>
            </a:pPr>
            <a:r>
              <a:rPr sz="1400" spc="-65" dirty="0">
                <a:latin typeface="+mn-lt"/>
                <a:cs typeface="Arial MT"/>
              </a:rPr>
              <a:t>Questionnaire</a:t>
            </a:r>
            <a:r>
              <a:rPr sz="1400" spc="30" dirty="0">
                <a:latin typeface="+mn-lt"/>
                <a:cs typeface="Arial MT"/>
              </a:rPr>
              <a:t> </a:t>
            </a:r>
            <a:r>
              <a:rPr sz="1400" spc="-65" dirty="0">
                <a:latin typeface="+mn-lt"/>
                <a:cs typeface="Arial MT"/>
              </a:rPr>
              <a:t>covers</a:t>
            </a:r>
            <a:r>
              <a:rPr sz="1400" spc="10" dirty="0">
                <a:latin typeface="+mn-lt"/>
                <a:cs typeface="Arial MT"/>
              </a:rPr>
              <a:t> </a:t>
            </a:r>
            <a:r>
              <a:rPr sz="1400" spc="-55" dirty="0">
                <a:latin typeface="+mn-lt"/>
                <a:cs typeface="Arial MT"/>
              </a:rPr>
              <a:t>frequency</a:t>
            </a:r>
            <a:r>
              <a:rPr sz="1400" spc="50" dirty="0">
                <a:latin typeface="+mn-lt"/>
                <a:cs typeface="Arial MT"/>
              </a:rPr>
              <a:t> </a:t>
            </a:r>
            <a:r>
              <a:rPr sz="1400" spc="-25" dirty="0">
                <a:latin typeface="+mn-lt"/>
                <a:cs typeface="Arial MT"/>
              </a:rPr>
              <a:t>and </a:t>
            </a:r>
            <a:r>
              <a:rPr sz="1400" spc="-40" dirty="0">
                <a:latin typeface="+mn-lt"/>
                <a:cs typeface="Arial MT"/>
              </a:rPr>
              <a:t>types </a:t>
            </a:r>
            <a:r>
              <a:rPr sz="1400" dirty="0">
                <a:latin typeface="+mn-lt"/>
                <a:cs typeface="Arial MT"/>
              </a:rPr>
              <a:t>of</a:t>
            </a:r>
            <a:r>
              <a:rPr sz="1400" spc="-40" dirty="0">
                <a:latin typeface="+mn-lt"/>
                <a:cs typeface="Arial MT"/>
              </a:rPr>
              <a:t> </a:t>
            </a:r>
            <a:r>
              <a:rPr sz="1400" spc="-20" dirty="0">
                <a:latin typeface="+mn-lt"/>
                <a:cs typeface="Arial MT"/>
              </a:rPr>
              <a:t>fast</a:t>
            </a:r>
            <a:r>
              <a:rPr sz="1400" spc="-65" dirty="0">
                <a:latin typeface="+mn-lt"/>
                <a:cs typeface="Arial MT"/>
              </a:rPr>
              <a:t> </a:t>
            </a:r>
            <a:r>
              <a:rPr sz="1400" dirty="0">
                <a:latin typeface="+mn-lt"/>
                <a:cs typeface="Arial MT"/>
              </a:rPr>
              <a:t>food</a:t>
            </a:r>
            <a:r>
              <a:rPr sz="1400" spc="-35" dirty="0">
                <a:latin typeface="+mn-lt"/>
                <a:cs typeface="Arial MT"/>
              </a:rPr>
              <a:t> </a:t>
            </a:r>
            <a:r>
              <a:rPr sz="1400" spc="-65" dirty="0">
                <a:latin typeface="+mn-lt"/>
                <a:cs typeface="Arial MT"/>
              </a:rPr>
              <a:t>consumed</a:t>
            </a:r>
            <a:r>
              <a:rPr sz="1400" spc="-15" dirty="0">
                <a:latin typeface="+mn-lt"/>
                <a:cs typeface="Arial MT"/>
              </a:rPr>
              <a:t> </a:t>
            </a:r>
            <a:r>
              <a:rPr sz="1400" spc="-45" dirty="0">
                <a:latin typeface="+mn-lt"/>
                <a:cs typeface="Arial MT"/>
              </a:rPr>
              <a:t>plus</a:t>
            </a:r>
            <a:r>
              <a:rPr sz="1400" spc="-25" dirty="0">
                <a:latin typeface="+mn-lt"/>
                <a:cs typeface="Arial MT"/>
              </a:rPr>
              <a:t> </a:t>
            </a:r>
            <a:r>
              <a:rPr sz="1400" spc="-15" dirty="0">
                <a:latin typeface="+mn-lt"/>
                <a:cs typeface="Arial MT"/>
              </a:rPr>
              <a:t>health </a:t>
            </a:r>
            <a:r>
              <a:rPr sz="1400" spc="-50" dirty="0">
                <a:latin typeface="+mn-lt"/>
                <a:cs typeface="Arial MT"/>
              </a:rPr>
              <a:t>status</a:t>
            </a:r>
            <a:r>
              <a:rPr sz="1400" spc="-25" dirty="0">
                <a:latin typeface="+mn-lt"/>
                <a:cs typeface="Arial MT"/>
              </a:rPr>
              <a:t> </a:t>
            </a:r>
            <a:r>
              <a:rPr sz="1400" spc="-105" dirty="0">
                <a:latin typeface="+mn-lt"/>
                <a:cs typeface="Arial MT"/>
              </a:rPr>
              <a:t>and</a:t>
            </a:r>
            <a:r>
              <a:rPr sz="1400" spc="-80" dirty="0">
                <a:latin typeface="+mn-lt"/>
                <a:cs typeface="Arial MT"/>
              </a:rPr>
              <a:t> </a:t>
            </a:r>
            <a:r>
              <a:rPr sz="1400" spc="-10" dirty="0">
                <a:latin typeface="+mn-lt"/>
                <a:cs typeface="Arial MT"/>
              </a:rPr>
              <a:t>Iifesty!e</a:t>
            </a:r>
            <a:endParaRPr sz="1400" dirty="0">
              <a:latin typeface="+mn-l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20602" y="3001492"/>
            <a:ext cx="2855595" cy="7247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409575" marR="5080" indent="-397510">
              <a:lnSpc>
                <a:spcPct val="109900"/>
              </a:lnSpc>
              <a:spcBef>
                <a:spcPts val="100"/>
              </a:spcBef>
            </a:pPr>
            <a:r>
              <a:rPr sz="1400" spc="-80" dirty="0">
                <a:latin typeface="+mn-lt"/>
                <a:cs typeface="Arial MT"/>
              </a:rPr>
              <a:t>Sample</a:t>
            </a:r>
            <a:r>
              <a:rPr sz="1400" spc="-15" dirty="0">
                <a:latin typeface="+mn-lt"/>
                <a:cs typeface="Arial MT"/>
              </a:rPr>
              <a:t> </a:t>
            </a:r>
            <a:r>
              <a:rPr sz="1400" dirty="0">
                <a:latin typeface="+mn-lt"/>
                <a:cs typeface="Arial MT"/>
              </a:rPr>
              <a:t>of</a:t>
            </a:r>
            <a:r>
              <a:rPr sz="1400" spc="-65" dirty="0">
                <a:latin typeface="+mn-lt"/>
                <a:cs typeface="Arial MT"/>
              </a:rPr>
              <a:t> </a:t>
            </a:r>
            <a:r>
              <a:rPr sz="1400" spc="-80" dirty="0">
                <a:latin typeface="+mn-lt"/>
                <a:cs typeface="Arial MT"/>
              </a:rPr>
              <a:t>5,000</a:t>
            </a:r>
            <a:r>
              <a:rPr sz="1400" spc="-65" dirty="0">
                <a:latin typeface="+mn-lt"/>
                <a:cs typeface="Arial MT"/>
              </a:rPr>
              <a:t> </a:t>
            </a:r>
            <a:r>
              <a:rPr sz="1400" spc="-155" dirty="0">
                <a:latin typeface="+mn-lt"/>
                <a:cs typeface="Arial MT"/>
              </a:rPr>
              <a:t>US</a:t>
            </a:r>
            <a:r>
              <a:rPr sz="1400" spc="-70" dirty="0">
                <a:latin typeface="+mn-lt"/>
                <a:cs typeface="Arial MT"/>
              </a:rPr>
              <a:t> </a:t>
            </a:r>
            <a:r>
              <a:rPr sz="1400" spc="-25" dirty="0">
                <a:latin typeface="+mn-lt"/>
                <a:cs typeface="Arial MT"/>
              </a:rPr>
              <a:t>participants</a:t>
            </a:r>
            <a:r>
              <a:rPr sz="1400" spc="130" dirty="0">
                <a:latin typeface="+mn-lt"/>
                <a:cs typeface="Arial MT"/>
              </a:rPr>
              <a:t> </a:t>
            </a:r>
            <a:r>
              <a:rPr sz="1400" spc="-95" dirty="0">
                <a:solidFill>
                  <a:srgbClr val="0F0F0F"/>
                </a:solidFill>
                <a:latin typeface="+mn-lt"/>
                <a:cs typeface="Arial MT"/>
              </a:rPr>
              <a:t>aged</a:t>
            </a:r>
            <a:r>
              <a:rPr sz="1400" spc="-70" dirty="0">
                <a:solidFill>
                  <a:srgbClr val="0F0F0F"/>
                </a:solidFill>
                <a:latin typeface="+mn-lt"/>
                <a:cs typeface="Arial MT"/>
              </a:rPr>
              <a:t> </a:t>
            </a:r>
            <a:r>
              <a:rPr sz="1400" spc="-25" dirty="0">
                <a:latin typeface="+mn-lt"/>
                <a:cs typeface="Arial MT"/>
              </a:rPr>
              <a:t>15- </a:t>
            </a:r>
            <a:r>
              <a:rPr sz="1400" spc="-40" dirty="0">
                <a:latin typeface="+mn-lt"/>
                <a:cs typeface="Arial MT"/>
              </a:rPr>
              <a:t>65</a:t>
            </a:r>
            <a:r>
              <a:rPr sz="1400" spc="-90" dirty="0">
                <a:latin typeface="+mn-lt"/>
                <a:cs typeface="Arial MT"/>
              </a:rPr>
              <a:t> </a:t>
            </a:r>
            <a:r>
              <a:rPr sz="1400" spc="-10" dirty="0">
                <a:latin typeface="+mn-lt"/>
                <a:cs typeface="Arial MT"/>
              </a:rPr>
              <a:t>from</a:t>
            </a:r>
            <a:r>
              <a:rPr sz="1400" spc="-75" dirty="0">
                <a:latin typeface="+mn-lt"/>
                <a:cs typeface="Arial MT"/>
              </a:rPr>
              <a:t> </a:t>
            </a:r>
            <a:r>
              <a:rPr sz="1400" spc="-70" dirty="0">
                <a:latin typeface="+mn-lt"/>
                <a:cs typeface="Arial MT"/>
              </a:rPr>
              <a:t>urban</a:t>
            </a:r>
            <a:r>
              <a:rPr sz="1400" spc="-30" dirty="0">
                <a:latin typeface="+mn-lt"/>
                <a:cs typeface="Arial MT"/>
              </a:rPr>
              <a:t> </a:t>
            </a:r>
            <a:r>
              <a:rPr sz="1400" spc="-85" dirty="0">
                <a:latin typeface="+mn-lt"/>
                <a:cs typeface="Arial MT"/>
              </a:rPr>
              <a:t>and</a:t>
            </a:r>
            <a:r>
              <a:rPr sz="1400" spc="-15" dirty="0">
                <a:latin typeface="+mn-lt"/>
                <a:cs typeface="Arial MT"/>
              </a:rPr>
              <a:t> </a:t>
            </a:r>
            <a:r>
              <a:rPr sz="1400" spc="-40" dirty="0">
                <a:latin typeface="+mn-lt"/>
                <a:cs typeface="Arial MT"/>
              </a:rPr>
              <a:t>rural</a:t>
            </a:r>
            <a:r>
              <a:rPr sz="1400" spc="25" dirty="0">
                <a:latin typeface="+mn-lt"/>
                <a:cs typeface="Arial MT"/>
              </a:rPr>
              <a:t> </a:t>
            </a:r>
            <a:r>
              <a:rPr sz="1400" spc="-10" dirty="0">
                <a:latin typeface="+mn-lt"/>
                <a:cs typeface="Arial MT"/>
              </a:rPr>
              <a:t>areas</a:t>
            </a:r>
            <a:endParaRPr lang="en-IN" sz="1400" spc="-10" dirty="0">
              <a:latin typeface="+mn-lt"/>
              <a:cs typeface="Arial MT"/>
            </a:endParaRPr>
          </a:p>
          <a:p>
            <a:pPr marL="409575" marR="5080" indent="-397510">
              <a:lnSpc>
                <a:spcPct val="109900"/>
              </a:lnSpc>
              <a:spcBef>
                <a:spcPts val="100"/>
              </a:spcBef>
            </a:pPr>
            <a:endParaRPr sz="1400" dirty="0">
              <a:latin typeface="+mn-l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32862" y="3001492"/>
            <a:ext cx="2712085" cy="70538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9900"/>
              </a:lnSpc>
              <a:spcBef>
                <a:spcPts val="100"/>
              </a:spcBef>
            </a:pPr>
            <a:r>
              <a:rPr sz="1400" spc="-65" dirty="0">
                <a:latin typeface="+mn-lt"/>
                <a:cs typeface="Arial MT"/>
              </a:rPr>
              <a:t>Balanced</a:t>
            </a:r>
            <a:r>
              <a:rPr sz="1400" spc="45" dirty="0">
                <a:latin typeface="+mn-lt"/>
                <a:cs typeface="Arial MT"/>
              </a:rPr>
              <a:t> </a:t>
            </a:r>
            <a:r>
              <a:rPr sz="1400" spc="-50" dirty="0">
                <a:latin typeface="+mn-lt"/>
                <a:cs typeface="Arial MT"/>
              </a:rPr>
              <a:t>demographics</a:t>
            </a:r>
            <a:r>
              <a:rPr sz="1400" spc="15" dirty="0">
                <a:latin typeface="+mn-lt"/>
                <a:cs typeface="Arial MT"/>
              </a:rPr>
              <a:t> </a:t>
            </a:r>
            <a:r>
              <a:rPr sz="1400" spc="-55" dirty="0">
                <a:latin typeface="+mn-lt"/>
                <a:cs typeface="Arial MT"/>
              </a:rPr>
              <a:t>across</a:t>
            </a:r>
            <a:r>
              <a:rPr sz="1400" spc="-35" dirty="0">
                <a:latin typeface="+mn-lt"/>
                <a:cs typeface="Arial MT"/>
              </a:rPr>
              <a:t> </a:t>
            </a:r>
            <a:r>
              <a:rPr sz="1400" spc="-70" dirty="0">
                <a:latin typeface="+mn-lt"/>
                <a:cs typeface="Arial MT"/>
              </a:rPr>
              <a:t>gender, </a:t>
            </a:r>
            <a:r>
              <a:rPr sz="1400" spc="-95" dirty="0">
                <a:latin typeface="+mn-lt"/>
                <a:cs typeface="Arial MT"/>
              </a:rPr>
              <a:t>age,</a:t>
            </a:r>
            <a:r>
              <a:rPr sz="1400" spc="-65" dirty="0">
                <a:latin typeface="+mn-lt"/>
                <a:cs typeface="Arial MT"/>
              </a:rPr>
              <a:t> </a:t>
            </a:r>
            <a:r>
              <a:rPr sz="1400" spc="-85" dirty="0">
                <a:latin typeface="+mn-lt"/>
                <a:cs typeface="Arial MT"/>
              </a:rPr>
              <a:t>and</a:t>
            </a:r>
            <a:r>
              <a:rPr sz="1400" spc="-10" dirty="0">
                <a:latin typeface="+mn-lt"/>
                <a:cs typeface="Arial MT"/>
              </a:rPr>
              <a:t> </a:t>
            </a:r>
            <a:r>
              <a:rPr sz="1400" spc="-60" dirty="0">
                <a:latin typeface="+mn-lt"/>
                <a:cs typeface="Arial MT"/>
              </a:rPr>
              <a:t>income</a:t>
            </a:r>
            <a:r>
              <a:rPr sz="1400" spc="-20" dirty="0">
                <a:latin typeface="+mn-lt"/>
                <a:cs typeface="Arial MT"/>
              </a:rPr>
              <a:t> </a:t>
            </a:r>
            <a:r>
              <a:rPr sz="1400" dirty="0">
                <a:latin typeface="+mn-lt"/>
                <a:cs typeface="Arial MT"/>
              </a:rPr>
              <a:t>to</a:t>
            </a:r>
            <a:r>
              <a:rPr sz="1400" spc="-40" dirty="0">
                <a:latin typeface="+mn-lt"/>
                <a:cs typeface="Arial MT"/>
              </a:rPr>
              <a:t> </a:t>
            </a:r>
            <a:r>
              <a:rPr sz="1400" spc="-10" dirty="0">
                <a:latin typeface="+mn-lt"/>
                <a:cs typeface="Arial MT"/>
              </a:rPr>
              <a:t>ensure representativeness</a:t>
            </a:r>
            <a:endParaRPr sz="1400" dirty="0">
              <a:latin typeface="+mn-l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0627" y="5020793"/>
            <a:ext cx="2744470" cy="69679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0" tIns="15875" rIns="0" bIns="0" rtlCol="0">
            <a:spAutoFit/>
          </a:bodyPr>
          <a:lstStyle/>
          <a:p>
            <a:pPr marL="12700" marR="5080" algn="ctr">
              <a:lnSpc>
                <a:spcPct val="108300"/>
              </a:lnSpc>
              <a:spcBef>
                <a:spcPts val="125"/>
              </a:spcBef>
            </a:pPr>
            <a:r>
              <a:rPr sz="1400" spc="-95" dirty="0">
                <a:latin typeface="+mn-lt"/>
                <a:cs typeface="Arial MT"/>
              </a:rPr>
              <a:t>Data</a:t>
            </a:r>
            <a:r>
              <a:rPr sz="1400" dirty="0">
                <a:latin typeface="+mn-lt"/>
                <a:cs typeface="Arial MT"/>
              </a:rPr>
              <a:t> </a:t>
            </a:r>
            <a:r>
              <a:rPr sz="1400" spc="-35" dirty="0">
                <a:latin typeface="+mn-lt"/>
                <a:cs typeface="Arial MT"/>
              </a:rPr>
              <a:t>collected</a:t>
            </a:r>
            <a:r>
              <a:rPr sz="1400" spc="-20" dirty="0">
                <a:latin typeface="+mn-lt"/>
                <a:cs typeface="Arial MT"/>
              </a:rPr>
              <a:t> </a:t>
            </a:r>
            <a:r>
              <a:rPr sz="1400" spc="-60" dirty="0">
                <a:latin typeface="+mn-lt"/>
                <a:cs typeface="Arial MT"/>
              </a:rPr>
              <a:t>via</a:t>
            </a:r>
            <a:r>
              <a:rPr sz="1400" spc="-30" dirty="0">
                <a:latin typeface="+mn-lt"/>
                <a:cs typeface="Arial MT"/>
              </a:rPr>
              <a:t> </a:t>
            </a:r>
            <a:r>
              <a:rPr sz="1400" spc="-45" dirty="0">
                <a:latin typeface="+mn-lt"/>
                <a:cs typeface="Arial MT"/>
              </a:rPr>
              <a:t>online</a:t>
            </a:r>
            <a:r>
              <a:rPr sz="1400" spc="-15" dirty="0">
                <a:latin typeface="+mn-lt"/>
                <a:cs typeface="Arial MT"/>
              </a:rPr>
              <a:t> </a:t>
            </a:r>
            <a:r>
              <a:rPr sz="1400" spc="-35" dirty="0">
                <a:latin typeface="+mn-lt"/>
                <a:cs typeface="Arial MT"/>
              </a:rPr>
              <a:t>questionnaires </a:t>
            </a:r>
            <a:r>
              <a:rPr sz="1400" spc="-85" dirty="0">
                <a:latin typeface="+mn-lt"/>
                <a:cs typeface="Arial MT"/>
              </a:rPr>
              <a:t>and</a:t>
            </a:r>
            <a:r>
              <a:rPr sz="1400" spc="-15" dirty="0">
                <a:latin typeface="+mn-lt"/>
                <a:cs typeface="Arial MT"/>
              </a:rPr>
              <a:t> </a:t>
            </a:r>
            <a:r>
              <a:rPr sz="1400" spc="-35" dirty="0">
                <a:latin typeface="+mn-lt"/>
                <a:cs typeface="Arial MT"/>
              </a:rPr>
              <a:t>health</a:t>
            </a:r>
            <a:r>
              <a:rPr sz="1400" spc="-60" dirty="0">
                <a:latin typeface="+mn-lt"/>
                <a:cs typeface="Arial MT"/>
              </a:rPr>
              <a:t> </a:t>
            </a:r>
            <a:r>
              <a:rPr sz="1400" spc="-55" dirty="0">
                <a:latin typeface="+mn-lt"/>
                <a:cs typeface="Arial MT"/>
              </a:rPr>
              <a:t>screenings</a:t>
            </a:r>
            <a:r>
              <a:rPr sz="1400" spc="10" dirty="0">
                <a:latin typeface="+mn-lt"/>
                <a:cs typeface="Arial MT"/>
              </a:rPr>
              <a:t> </a:t>
            </a:r>
            <a:r>
              <a:rPr sz="1400" spc="-50" dirty="0">
                <a:latin typeface="+mn-lt"/>
                <a:cs typeface="Arial MT"/>
              </a:rPr>
              <a:t>at</a:t>
            </a:r>
            <a:r>
              <a:rPr sz="1400" spc="-40" dirty="0">
                <a:latin typeface="+mn-lt"/>
                <a:cs typeface="Arial MT"/>
              </a:rPr>
              <a:t> </a:t>
            </a:r>
            <a:r>
              <a:rPr sz="1400" spc="-10" dirty="0">
                <a:latin typeface="+mn-lt"/>
                <a:cs typeface="Arial MT"/>
              </a:rPr>
              <a:t>community centers</a:t>
            </a:r>
            <a:endParaRPr sz="1400" dirty="0">
              <a:latin typeface="+mn-lt"/>
              <a:cs typeface="Arial M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300" y="2149527"/>
            <a:ext cx="8029950" cy="3613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8748" y="3258429"/>
            <a:ext cx="534669" cy="1188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4788" y="5872388"/>
            <a:ext cx="237631" cy="7921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52220" y="1271024"/>
            <a:ext cx="821045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8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Fast </a:t>
            </a:r>
            <a:r>
              <a:rPr sz="2800" b="1" spc="-15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Fod</a:t>
            </a:r>
            <a:r>
              <a:rPr sz="2800" b="1" spc="-24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Consumption</a:t>
            </a:r>
            <a:r>
              <a:rPr sz="2800" b="1" spc="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by</a:t>
            </a:r>
            <a:r>
              <a:rPr sz="2800" b="1" spc="-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Age,</a:t>
            </a:r>
            <a:r>
              <a:rPr sz="2800" b="1" spc="-35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spc="-13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Gender</a:t>
            </a:r>
            <a:r>
              <a:rPr sz="2800" b="1" spc="-7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spc="7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&amp;</a:t>
            </a:r>
            <a:r>
              <a:rPr sz="2800" b="1" spc="-365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Income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6245" y="2423502"/>
            <a:ext cx="5568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14" dirty="0">
                <a:latin typeface="Arial MT"/>
                <a:cs typeface="Arial MT"/>
              </a:rPr>
              <a:t>Age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spc="-70" dirty="0">
                <a:solidFill>
                  <a:srgbClr val="111111"/>
                </a:solidFill>
                <a:latin typeface="Arial MT"/>
                <a:cs typeface="Arial MT"/>
              </a:rPr>
              <a:t>15-</a:t>
            </a:r>
            <a:r>
              <a:rPr sz="1050" spc="-25" dirty="0">
                <a:solidFill>
                  <a:srgbClr val="111111"/>
                </a:solidFill>
                <a:latin typeface="Arial MT"/>
                <a:cs typeface="Arial MT"/>
              </a:rPr>
              <a:t>J7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6260" y="2799342"/>
            <a:ext cx="556260" cy="186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150" dirty="0">
                <a:latin typeface="Arial MT"/>
                <a:cs typeface="Arial MT"/>
              </a:rPr>
              <a:t>Age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18-</a:t>
            </a:r>
            <a:r>
              <a:rPr sz="1100" spc="-55" dirty="0">
                <a:latin typeface="Arial MT"/>
                <a:cs typeface="Arial MT"/>
              </a:rPr>
              <a:t>34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8748" y="3591864"/>
            <a:ext cx="547302" cy="5905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latin typeface="Consolas"/>
                <a:cs typeface="Consolas"/>
              </a:rPr>
              <a:t>Age</a:t>
            </a:r>
            <a:r>
              <a:rPr lang="en-IN" sz="1100" spc="-10" dirty="0">
                <a:latin typeface="Consolas"/>
                <a:cs typeface="Consolas"/>
              </a:rPr>
              <a:t> 51+</a:t>
            </a:r>
            <a:endParaRPr sz="11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100" dirty="0">
              <a:latin typeface="Consolas"/>
              <a:cs typeface="Consolas"/>
            </a:endParaRPr>
          </a:p>
          <a:p>
            <a:pPr marL="191770">
              <a:lnSpc>
                <a:spcPct val="100000"/>
              </a:lnSpc>
            </a:pPr>
            <a:r>
              <a:rPr sz="1050" spc="-30" dirty="0">
                <a:latin typeface="Arial MT"/>
                <a:cs typeface="Arial MT"/>
              </a:rPr>
              <a:t>Male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28749" y="4397029"/>
            <a:ext cx="540486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85" dirty="0">
                <a:latin typeface="Arial MT"/>
                <a:cs typeface="Arial MT"/>
              </a:rPr>
              <a:t>Female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6723" y="4745166"/>
            <a:ext cx="1096645" cy="9868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95"/>
              </a:spcBef>
            </a:pPr>
            <a:r>
              <a:rPr sz="1100" spc="-105" dirty="0">
                <a:latin typeface="Arial MT"/>
                <a:cs typeface="Arial MT"/>
              </a:rPr>
              <a:t>Low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C0C0C"/>
                </a:solidFill>
                <a:latin typeface="Arial MT"/>
                <a:cs typeface="Arial MT"/>
              </a:rPr>
              <a:t>Income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100" dirty="0">
              <a:latin typeface="Arial MT"/>
              <a:cs typeface="Arial MT"/>
            </a:endParaRPr>
          </a:p>
          <a:p>
            <a:pPr marR="8255" algn="r">
              <a:lnSpc>
                <a:spcPct val="100000"/>
              </a:lnSpc>
              <a:tabLst>
                <a:tab pos="280670" algn="l"/>
              </a:tabLst>
            </a:pPr>
            <a:r>
              <a:rPr sz="1100" dirty="0">
                <a:solidFill>
                  <a:srgbClr val="2A2A2A"/>
                </a:solidFill>
                <a:latin typeface="Arial MT"/>
                <a:cs typeface="Arial MT"/>
              </a:rPr>
              <a:t>	</a:t>
            </a:r>
            <a:r>
              <a:rPr sz="1100" spc="-80" dirty="0">
                <a:latin typeface="Arial MT"/>
                <a:cs typeface="Arial MT"/>
              </a:rPr>
              <a:t>Middle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70" dirty="0">
                <a:solidFill>
                  <a:srgbClr val="0C0C0C"/>
                </a:solidFill>
                <a:latin typeface="Arial MT"/>
                <a:cs typeface="Arial MT"/>
              </a:rPr>
              <a:t>Income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100" dirty="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1100" spc="-65" dirty="0">
                <a:latin typeface="Arial MT"/>
                <a:cs typeface="Arial MT"/>
              </a:rPr>
              <a:t>High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+mn-lt"/>
                <a:cs typeface="Arial MT"/>
              </a:rPr>
              <a:t>Income</a:t>
            </a:r>
            <a:endParaRPr sz="1100" dirty="0">
              <a:latin typeface="+mn-l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4900" y="1723779"/>
            <a:ext cx="563880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sz="1200" b="1" spc="-150" dirty="0">
                <a:solidFill>
                  <a:srgbClr val="464646"/>
                </a:solidFill>
                <a:latin typeface="+mn-lt"/>
                <a:cs typeface="Arial MT"/>
              </a:rPr>
              <a:t>US</a:t>
            </a:r>
            <a:r>
              <a:rPr sz="1200" b="1" spc="45" dirty="0">
                <a:solidFill>
                  <a:srgbClr val="464646"/>
                </a:solidFill>
                <a:latin typeface="+mn-lt"/>
                <a:cs typeface="Arial MT"/>
              </a:rPr>
              <a:t> </a:t>
            </a:r>
            <a:r>
              <a:rPr sz="1200" b="1" spc="-55" dirty="0">
                <a:solidFill>
                  <a:srgbClr val="4B4B4B"/>
                </a:solidFill>
                <a:latin typeface="+mn-lt"/>
                <a:cs typeface="Arial MT"/>
              </a:rPr>
              <a:t>2023</a:t>
            </a:r>
            <a:r>
              <a:rPr sz="1200" b="1" spc="-20" dirty="0">
                <a:solidFill>
                  <a:srgbClr val="4B4B4B"/>
                </a:solidFill>
                <a:latin typeface="+mn-lt"/>
                <a:cs typeface="Arial MT"/>
              </a:rPr>
              <a:t> </a:t>
            </a:r>
            <a:r>
              <a:rPr sz="1200" b="1" spc="-55" dirty="0">
                <a:solidFill>
                  <a:srgbClr val="565656"/>
                </a:solidFill>
                <a:latin typeface="+mn-lt"/>
                <a:cs typeface="Arial MT"/>
              </a:rPr>
              <a:t>survey</a:t>
            </a:r>
            <a:r>
              <a:rPr sz="1200" b="1" spc="50" dirty="0">
                <a:solidFill>
                  <a:srgbClr val="565656"/>
                </a:solidFill>
                <a:latin typeface="+mn-lt"/>
                <a:cs typeface="Arial MT"/>
              </a:rPr>
              <a:t> </a:t>
            </a:r>
            <a:r>
              <a:rPr sz="1200" b="1" spc="-60" dirty="0">
                <a:solidFill>
                  <a:srgbClr val="4F4F4F"/>
                </a:solidFill>
                <a:latin typeface="+mn-lt"/>
                <a:cs typeface="Arial MT"/>
              </a:rPr>
              <a:t>data</a:t>
            </a:r>
            <a:r>
              <a:rPr sz="1200" b="1" spc="-15" dirty="0">
                <a:solidFill>
                  <a:srgbClr val="4F4F4F"/>
                </a:solidFill>
                <a:latin typeface="+mn-lt"/>
                <a:cs typeface="Arial MT"/>
              </a:rPr>
              <a:t> </a:t>
            </a:r>
            <a:r>
              <a:rPr sz="1200" b="1" spc="-40" dirty="0">
                <a:solidFill>
                  <a:srgbClr val="464646"/>
                </a:solidFill>
                <a:latin typeface="+mn-lt"/>
                <a:cs typeface="Arial MT"/>
              </a:rPr>
              <a:t>reveals</a:t>
            </a:r>
            <a:r>
              <a:rPr sz="1200" b="1" spc="45" dirty="0">
                <a:solidFill>
                  <a:srgbClr val="464646"/>
                </a:solidFill>
                <a:latin typeface="+mn-lt"/>
                <a:cs typeface="Arial MT"/>
              </a:rPr>
              <a:t> </a:t>
            </a:r>
            <a:r>
              <a:rPr sz="1200" b="1" spc="-40" dirty="0">
                <a:solidFill>
                  <a:srgbClr val="565656"/>
                </a:solidFill>
                <a:latin typeface="+mn-lt"/>
                <a:cs typeface="Arial MT"/>
              </a:rPr>
              <a:t>demographic</a:t>
            </a:r>
            <a:r>
              <a:rPr sz="1200" b="1" spc="45" dirty="0">
                <a:solidFill>
                  <a:srgbClr val="565656"/>
                </a:solidFill>
                <a:latin typeface="+mn-lt"/>
                <a:cs typeface="Arial MT"/>
              </a:rPr>
              <a:t> </a:t>
            </a:r>
            <a:r>
              <a:rPr sz="1200" b="1" spc="-40" dirty="0">
                <a:solidFill>
                  <a:srgbClr val="646464"/>
                </a:solidFill>
                <a:latin typeface="+mn-lt"/>
                <a:cs typeface="Arial MT"/>
              </a:rPr>
              <a:t>and</a:t>
            </a:r>
            <a:r>
              <a:rPr sz="1200" b="1" spc="-20" dirty="0">
                <a:solidFill>
                  <a:srgbClr val="646464"/>
                </a:solidFill>
                <a:latin typeface="+mn-lt"/>
                <a:cs typeface="Arial MT"/>
              </a:rPr>
              <a:t> </a:t>
            </a:r>
            <a:r>
              <a:rPr sz="1200" b="1" spc="-30" dirty="0">
                <a:solidFill>
                  <a:srgbClr val="4B4B4B"/>
                </a:solidFill>
                <a:latin typeface="+mn-lt"/>
                <a:cs typeface="Arial MT"/>
              </a:rPr>
              <a:t>socioeconomic</a:t>
            </a:r>
            <a:r>
              <a:rPr sz="1200" b="1" spc="40" dirty="0">
                <a:solidFill>
                  <a:srgbClr val="4B4B4B"/>
                </a:solidFill>
                <a:latin typeface="+mn-lt"/>
                <a:cs typeface="Arial MT"/>
              </a:rPr>
              <a:t> </a:t>
            </a:r>
            <a:r>
              <a:rPr sz="1200" b="1" spc="-25" dirty="0">
                <a:solidFill>
                  <a:srgbClr val="484848"/>
                </a:solidFill>
                <a:latin typeface="+mn-lt"/>
                <a:cs typeface="Arial MT"/>
              </a:rPr>
              <a:t>consumption</a:t>
            </a:r>
            <a:r>
              <a:rPr sz="1200" b="1" spc="20" dirty="0">
                <a:solidFill>
                  <a:srgbClr val="484848"/>
                </a:solidFill>
                <a:latin typeface="+mn-lt"/>
                <a:cs typeface="Arial MT"/>
              </a:rPr>
              <a:t> </a:t>
            </a:r>
            <a:r>
              <a:rPr sz="1200" b="1" spc="-10" dirty="0">
                <a:solidFill>
                  <a:srgbClr val="4D4D4D"/>
                </a:solidFill>
                <a:latin typeface="+mn-lt"/>
                <a:cs typeface="Arial MT"/>
              </a:rPr>
              <a:t>patterns</a:t>
            </a:r>
            <a:endParaRPr sz="1200" b="1" dirty="0">
              <a:latin typeface="+mn-l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13822" y="4343542"/>
            <a:ext cx="179705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spc="-100" dirty="0">
                <a:latin typeface="Courier New"/>
                <a:cs typeface="Courier New"/>
              </a:rPr>
              <a:t>40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8471" y="5810182"/>
            <a:ext cx="218440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40" dirty="0">
                <a:solidFill>
                  <a:srgbClr val="464646"/>
                </a:solidFill>
                <a:latin typeface="Calibri"/>
                <a:cs typeface="Calibri"/>
              </a:rPr>
              <a:t>42.5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91477" y="2804498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35" dirty="0">
                <a:solidFill>
                  <a:srgbClr val="424242"/>
                </a:solidFill>
                <a:latin typeface="Cambria"/>
                <a:cs typeface="Cambria"/>
              </a:rPr>
              <a:t>60</a:t>
            </a:r>
            <a:endParaRPr sz="1100" dirty="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9666" y="6041832"/>
            <a:ext cx="1440815" cy="2006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1C1C1C"/>
                </a:solidFill>
                <a:latin typeface="+mn-lt"/>
                <a:cs typeface="Arial MT"/>
              </a:rPr>
              <a:t>Demographic</a:t>
            </a:r>
            <a:r>
              <a:rPr sz="1200" spc="165" dirty="0">
                <a:solidFill>
                  <a:srgbClr val="1C1C1C"/>
                </a:solidFill>
                <a:latin typeface="+mn-lt"/>
                <a:cs typeface="Arial MT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+mn-lt"/>
                <a:cs typeface="Arial MT"/>
              </a:rPr>
              <a:t>Groups</a:t>
            </a:r>
            <a:endParaRPr sz="1200" dirty="0">
              <a:latin typeface="+mn-l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05248" y="2428658"/>
            <a:ext cx="22987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25" dirty="0">
                <a:latin typeface="Arial MT"/>
                <a:cs typeface="Arial MT"/>
              </a:rPr>
              <a:t>170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39A4B6-165F-0498-9CAD-F3CB4CC39F96}"/>
              </a:ext>
            </a:extLst>
          </p:cNvPr>
          <p:cNvSpPr txBox="1"/>
          <p:nvPr/>
        </p:nvSpPr>
        <p:spPr>
          <a:xfrm rot="16200000">
            <a:off x="-660849" y="3803998"/>
            <a:ext cx="2667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+mn-lt"/>
              </a:rPr>
              <a:t>Weekly Fast Food Consumption (%)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880" y="2278212"/>
            <a:ext cx="9327020" cy="36337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5301" y="1121919"/>
            <a:ext cx="6811904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2800" b="1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Top</a:t>
            </a:r>
            <a:r>
              <a:rPr lang="en-IN" sz="2800" b="1" spc="-21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 fast </a:t>
            </a:r>
            <a:r>
              <a:rPr sz="2800" b="1" spc="-15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2800" b="1" spc="10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Food</a:t>
            </a:r>
            <a:r>
              <a:rPr sz="2800" b="1" spc="-5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2800" b="1" spc="16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Choices</a:t>
            </a:r>
            <a:r>
              <a:rPr sz="2800" b="1" spc="-4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2800" b="1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Reve</a:t>
            </a:r>
            <a:r>
              <a:rPr lang="en-IN" sz="2800" b="1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a</a:t>
            </a:r>
            <a:r>
              <a:rPr sz="2800" b="1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led</a:t>
            </a:r>
            <a:r>
              <a:rPr sz="2800" b="1" spc="-8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2800" b="1" spc="12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by</a:t>
            </a:r>
            <a:r>
              <a:rPr sz="2800" b="1" spc="114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 </a:t>
            </a:r>
            <a:r>
              <a:rPr sz="2800" b="1" spc="1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  <a:cs typeface="Calibri"/>
              </a:rPr>
              <a:t>Survey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Footlight MT Light" panose="0204060206030A020304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4291" y="3973475"/>
            <a:ext cx="84010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65" dirty="0">
                <a:latin typeface="Arial MT"/>
                <a:cs typeface="Arial MT"/>
              </a:rPr>
              <a:t>Fried</a:t>
            </a:r>
            <a:r>
              <a:rPr sz="1150" spc="-40" dirty="0">
                <a:latin typeface="Arial MT"/>
                <a:cs typeface="Arial MT"/>
              </a:rPr>
              <a:t> </a:t>
            </a:r>
            <a:r>
              <a:rPr sz="1150" spc="-45" dirty="0">
                <a:latin typeface="Arial MT"/>
                <a:cs typeface="Arial MT"/>
              </a:rPr>
              <a:t>Chicken</a:t>
            </a:r>
            <a:endParaRPr sz="11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9586" y="5435146"/>
            <a:ext cx="72390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Arial MT"/>
                <a:cs typeface="Arial MT"/>
              </a:rPr>
              <a:t>Sandwiches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43486" y="1797050"/>
            <a:ext cx="4366337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solidFill>
                  <a:srgbClr val="4B4B4B"/>
                </a:solidFill>
                <a:latin typeface="Footlight MT Light" panose="0204060206030A020304" pitchFamily="18" charset="0"/>
                <a:cs typeface="Arial MT"/>
              </a:rPr>
              <a:t>Burgers</a:t>
            </a:r>
            <a:r>
              <a:rPr sz="1200" spc="-5" dirty="0">
                <a:solidFill>
                  <a:srgbClr val="4B4B4B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50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lead</a:t>
            </a:r>
            <a:r>
              <a:rPr sz="1200" spc="-10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35" dirty="0">
                <a:solidFill>
                  <a:srgbClr val="5B5B5B"/>
                </a:solidFill>
                <a:latin typeface="Footlight MT Light" panose="0204060206030A020304" pitchFamily="18" charset="0"/>
                <a:cs typeface="Arial MT"/>
              </a:rPr>
              <a:t>consumption,</a:t>
            </a:r>
            <a:r>
              <a:rPr sz="1200" spc="-45" dirty="0">
                <a:solidFill>
                  <a:srgbClr val="5B5B5B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10" dirty="0">
                <a:solidFill>
                  <a:srgbClr val="525252"/>
                </a:solidFill>
                <a:latin typeface="Footlight MT Light" panose="0204060206030A020304" pitchFamily="18" charset="0"/>
                <a:cs typeface="Arial MT"/>
              </a:rPr>
              <a:t>n'ith</a:t>
            </a:r>
            <a:r>
              <a:rPr sz="1200" spc="-65" dirty="0">
                <a:solidFill>
                  <a:srgbClr val="525252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10" dirty="0">
                <a:solidFill>
                  <a:srgbClr val="525252"/>
                </a:solidFill>
                <a:latin typeface="Footlight MT Light" panose="0204060206030A020304" pitchFamily="18" charset="0"/>
                <a:cs typeface="Arial MT"/>
              </a:rPr>
              <a:t>fried</a:t>
            </a:r>
            <a:r>
              <a:rPr sz="1200" spc="-15" dirty="0">
                <a:solidFill>
                  <a:srgbClr val="525252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35" dirty="0">
                <a:solidFill>
                  <a:srgbClr val="4B4B4B"/>
                </a:solidFill>
                <a:latin typeface="Footlight MT Light" panose="0204060206030A020304" pitchFamily="18" charset="0"/>
                <a:cs typeface="Arial MT"/>
              </a:rPr>
              <a:t>chicken</a:t>
            </a:r>
            <a:r>
              <a:rPr sz="1200" spc="30" dirty="0">
                <a:solidFill>
                  <a:srgbClr val="4B4B4B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85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and</a:t>
            </a:r>
            <a:r>
              <a:rPr sz="1200" spc="-2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35" dirty="0">
                <a:solidFill>
                  <a:srgbClr val="444444"/>
                </a:solidFill>
                <a:latin typeface="Footlight MT Light" panose="0204060206030A020304" pitchFamily="18" charset="0"/>
                <a:cs typeface="Arial MT"/>
              </a:rPr>
              <a:t>pizza</a:t>
            </a:r>
            <a:r>
              <a:rPr sz="1200" spc="-25" dirty="0">
                <a:solidFill>
                  <a:srgbClr val="444444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10" dirty="0">
                <a:solidFill>
                  <a:srgbClr val="444444"/>
                </a:solidFill>
                <a:latin typeface="Footlight MT Light" panose="0204060206030A020304" pitchFamily="18" charset="0"/>
                <a:cs typeface="Arial MT"/>
              </a:rPr>
              <a:t>following</a:t>
            </a:r>
            <a:r>
              <a:rPr sz="1200" dirty="0">
                <a:solidFill>
                  <a:srgbClr val="444444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200" spc="-10" dirty="0">
                <a:solidFill>
                  <a:srgbClr val="484848"/>
                </a:solidFill>
                <a:latin typeface="Footlight MT Light" panose="0204060206030A020304" pitchFamily="18" charset="0"/>
                <a:cs typeface="Arial MT"/>
              </a:rPr>
              <a:t>closely</a:t>
            </a:r>
            <a:endParaRPr sz="1200" dirty="0">
              <a:latin typeface="Footlight MT Light" panose="0204060206030A020304" pitchFamily="18" charset="0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5230" y="5435146"/>
            <a:ext cx="16954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solidFill>
                  <a:srgbClr val="4D4D4D"/>
                </a:solidFill>
                <a:latin typeface="Consolas"/>
                <a:cs typeface="Consolas"/>
              </a:rPr>
              <a:t>37</a:t>
            </a:r>
            <a:endParaRPr sz="1100">
              <a:latin typeface="Consolas"/>
              <a:cs typeface="Consolas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62426"/>
            <a:ext cx="445558" cy="4455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9069" y="6481241"/>
            <a:ext cx="1039636" cy="2178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7983" y="5055454"/>
            <a:ext cx="2188185" cy="10297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37500" y="5149850"/>
            <a:ext cx="1049537" cy="792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35936" y="4500981"/>
            <a:ext cx="980228" cy="1782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47841" y="797894"/>
            <a:ext cx="435656" cy="4356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25017" y="4095028"/>
            <a:ext cx="138618" cy="1089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13172" y="3223713"/>
            <a:ext cx="89111" cy="7921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39915" y="3075194"/>
            <a:ext cx="19802" cy="11881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624059" y="3223713"/>
            <a:ext cx="831850" cy="396240"/>
            <a:chOff x="9624059" y="3223713"/>
            <a:chExt cx="831850" cy="396240"/>
          </a:xfrm>
        </p:grpSpPr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77545" y="3223713"/>
              <a:ext cx="89111" cy="891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24059" y="3322726"/>
              <a:ext cx="831708" cy="29703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47500" y="934974"/>
            <a:ext cx="6653742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4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Fast </a:t>
            </a:r>
            <a:r>
              <a:rPr sz="2400" b="1" spc="-12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400" b="1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Food</a:t>
            </a:r>
            <a:r>
              <a:rPr sz="2400" b="1" spc="-14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Frequency</a:t>
            </a:r>
            <a:r>
              <a:rPr sz="2400" b="1" spc="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Strongly</a:t>
            </a:r>
            <a:r>
              <a:rPr sz="2400" b="1" spc="-6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Linked</a:t>
            </a:r>
            <a:r>
              <a:rPr sz="2400" b="1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400" b="1" spc="6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to</a:t>
            </a:r>
            <a:r>
              <a:rPr sz="2400" b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Health</a:t>
            </a:r>
            <a:r>
              <a:rPr sz="2400" b="1" spc="-12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4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Risks</a:t>
            </a:r>
            <a:endParaRPr sz="2400" b="1" dirty="0">
              <a:solidFill>
                <a:schemeClr val="tx1">
                  <a:lumMod val="95000"/>
                  <a:lumOff val="5000"/>
                </a:schemeClr>
              </a:solidFill>
              <a:latin typeface="Footlight MT Light" panose="0204060206030A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9106" y="1579912"/>
            <a:ext cx="512889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b="1" spc="-3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Survey</a:t>
            </a:r>
            <a:r>
              <a:rPr sz="1600" b="1" spc="-4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spc="-1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re</a:t>
            </a:r>
            <a:r>
              <a:rPr lang="en-IN" sz="1600" b="1" spc="-1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v</a:t>
            </a:r>
            <a:r>
              <a:rPr sz="1600" b="1" spc="-1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e</a:t>
            </a:r>
            <a:r>
              <a:rPr lang="en-IN" sz="1600" b="1" spc="-1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al rising </a:t>
            </a:r>
            <a:r>
              <a:rPr sz="1600" b="1" spc="-45" dirty="0">
                <a:solidFill>
                  <a:srgbClr val="595959"/>
                </a:solidFill>
                <a:latin typeface="Footlight MT Light" panose="0204060206030A020304" pitchFamily="18" charset="0"/>
                <a:cs typeface="Arial MT"/>
              </a:rPr>
              <a:t>BM</a:t>
            </a:r>
            <a:r>
              <a:rPr sz="1600" b="1" spc="-165" dirty="0">
                <a:solidFill>
                  <a:srgbClr val="595959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spc="-45" dirty="0">
                <a:solidFill>
                  <a:srgbClr val="797979"/>
                </a:solidFill>
                <a:latin typeface="Footlight MT Light" panose="0204060206030A020304" pitchFamily="18" charset="0"/>
                <a:cs typeface="Arial MT"/>
              </a:rPr>
              <a:t>I,</a:t>
            </a:r>
            <a:r>
              <a:rPr sz="1600" b="1" spc="-70" dirty="0">
                <a:solidFill>
                  <a:srgbClr val="797979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dirty="0">
                <a:solidFill>
                  <a:srgbClr val="494949"/>
                </a:solidFill>
                <a:latin typeface="Footlight MT Light" panose="0204060206030A020304" pitchFamily="18" charset="0"/>
                <a:cs typeface="Arial MT"/>
              </a:rPr>
              <a:t>blood </a:t>
            </a:r>
            <a:r>
              <a:rPr sz="1600" b="1" spc="-10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pressure,</a:t>
            </a:r>
            <a:r>
              <a:rPr sz="1600" b="1" spc="45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spc="-70" dirty="0">
                <a:solidFill>
                  <a:srgbClr val="494949"/>
                </a:solidFill>
                <a:latin typeface="Footlight MT Light" panose="0204060206030A020304" pitchFamily="18" charset="0"/>
                <a:cs typeface="Arial MT"/>
              </a:rPr>
              <a:t>a</a:t>
            </a:r>
            <a:r>
              <a:rPr lang="en-IN" sz="1600" b="1" spc="-70" dirty="0">
                <a:solidFill>
                  <a:srgbClr val="494949"/>
                </a:solidFill>
                <a:latin typeface="Footlight MT Light" panose="0204060206030A020304" pitchFamily="18" charset="0"/>
                <a:cs typeface="Arial MT"/>
              </a:rPr>
              <a:t>n</a:t>
            </a:r>
            <a:r>
              <a:rPr sz="1600" b="1" spc="-70" dirty="0">
                <a:solidFill>
                  <a:srgbClr val="494949"/>
                </a:solidFill>
                <a:latin typeface="Footlight MT Light" panose="0204060206030A020304" pitchFamily="18" charset="0"/>
                <a:cs typeface="Arial MT"/>
              </a:rPr>
              <a:t>‹I</a:t>
            </a:r>
            <a:r>
              <a:rPr sz="1600" b="1" spc="5" dirty="0">
                <a:solidFill>
                  <a:srgbClr val="494949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spc="-25" dirty="0">
                <a:solidFill>
                  <a:srgbClr val="464646"/>
                </a:solidFill>
                <a:latin typeface="Footlight MT Light" panose="0204060206030A020304" pitchFamily="18" charset="0"/>
                <a:cs typeface="Arial MT"/>
              </a:rPr>
              <a:t>p</a:t>
            </a:r>
            <a:r>
              <a:rPr lang="en-IN" sz="1600" b="1" spc="-25" dirty="0">
                <a:solidFill>
                  <a:srgbClr val="464646"/>
                </a:solidFill>
                <a:latin typeface="Footlight MT Light" panose="0204060206030A020304" pitchFamily="18" charset="0"/>
                <a:cs typeface="Arial MT"/>
              </a:rPr>
              <a:t>rediabetes</a:t>
            </a:r>
            <a:r>
              <a:rPr sz="1600" b="1" spc="40" dirty="0">
                <a:solidFill>
                  <a:srgbClr val="464646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dirty="0">
                <a:solidFill>
                  <a:srgbClr val="525252"/>
                </a:solidFill>
                <a:latin typeface="Footlight MT Light" panose="0204060206030A020304" pitchFamily="18" charset="0"/>
                <a:cs typeface="Arial MT"/>
              </a:rPr>
              <a:t>rates</a:t>
            </a:r>
            <a:r>
              <a:rPr sz="1600" b="1" spc="-20" dirty="0">
                <a:solidFill>
                  <a:srgbClr val="525252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spc="-50" dirty="0">
                <a:solidFill>
                  <a:srgbClr val="595959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increased</a:t>
            </a:r>
            <a:r>
              <a:rPr sz="1600" b="1" spc="25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fast</a:t>
            </a:r>
            <a:r>
              <a:rPr sz="1600" b="1" spc="40" dirty="0">
                <a:solidFill>
                  <a:srgbClr val="4D4D4D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foo</a:t>
            </a:r>
            <a:r>
              <a:rPr lang="en-IN" sz="1600" b="1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d</a:t>
            </a:r>
            <a:r>
              <a:rPr sz="1600" b="1" spc="-20" dirty="0">
                <a:solidFill>
                  <a:srgbClr val="545454"/>
                </a:solidFill>
                <a:latin typeface="Footlight MT Light" panose="0204060206030A020304" pitchFamily="18" charset="0"/>
                <a:cs typeface="Arial MT"/>
              </a:rPr>
              <a:t> </a:t>
            </a:r>
            <a:r>
              <a:rPr sz="1600" b="1" spc="-10" dirty="0">
                <a:solidFill>
                  <a:srgbClr val="4F4F4F"/>
                </a:solidFill>
                <a:latin typeface="Footlight MT Light" panose="0204060206030A020304" pitchFamily="18" charset="0"/>
                <a:cs typeface="Arial MT"/>
              </a:rPr>
              <a:t>intake</a:t>
            </a:r>
            <a:endParaRPr sz="1600" b="1" dirty="0">
              <a:latin typeface="Footlight MT Light" panose="0204060206030A020304" pitchFamily="18" charset="0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5494" y="4232912"/>
            <a:ext cx="1565910" cy="8077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7145" algn="just">
              <a:lnSpc>
                <a:spcPct val="100000"/>
              </a:lnSpc>
              <a:spcBef>
                <a:spcPts val="395"/>
              </a:spcBef>
            </a:pPr>
            <a:r>
              <a:rPr sz="1050" dirty="0">
                <a:latin typeface="Arial MT"/>
                <a:cs typeface="Arial MT"/>
              </a:rPr>
              <a:t>BMI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increases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646464"/>
                </a:solidFill>
                <a:latin typeface="Arial MT"/>
                <a:cs typeface="Arial MT"/>
              </a:rPr>
              <a:t>from</a:t>
            </a:r>
            <a:r>
              <a:rPr sz="1050" spc="-4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24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0C0C0C"/>
                </a:solidFill>
                <a:latin typeface="Arial MT"/>
                <a:cs typeface="Arial MT"/>
              </a:rPr>
              <a:t>(0-</a:t>
            </a:r>
            <a:endParaRPr sz="1050" dirty="0">
              <a:latin typeface="Arial MT"/>
              <a:cs typeface="Arial MT"/>
            </a:endParaRPr>
          </a:p>
          <a:p>
            <a:pPr marL="16510" marR="113030" indent="-4445" algn="just">
              <a:lnSpc>
                <a:spcPct val="120700"/>
              </a:lnSpc>
              <a:spcBef>
                <a:spcPts val="40"/>
              </a:spcBef>
            </a:pPr>
            <a:r>
              <a:rPr sz="1050" spc="50" dirty="0">
                <a:solidFill>
                  <a:srgbClr val="4D4D4D"/>
                </a:solidFill>
                <a:latin typeface="Arial MT"/>
                <a:cs typeface="Arial MT"/>
              </a:rPr>
              <a:t>1</a:t>
            </a:r>
            <a:r>
              <a:rPr sz="1050" spc="-6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meals/week)</a:t>
            </a:r>
            <a:r>
              <a:rPr sz="1050" spc="2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29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2F2F2F"/>
                </a:solidFill>
                <a:latin typeface="Arial MT"/>
                <a:cs typeface="Arial MT"/>
              </a:rPr>
              <a:t>(&gt;5 </a:t>
            </a:r>
            <a:r>
              <a:rPr sz="1050" dirty="0">
                <a:latin typeface="Arial MT"/>
                <a:cs typeface="Arial MT"/>
              </a:rPr>
              <a:t>meals/week),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indicating </a:t>
            </a:r>
            <a:r>
              <a:rPr sz="1050" dirty="0">
                <a:latin typeface="Arial MT"/>
                <a:cs typeface="Arial MT"/>
              </a:rPr>
              <a:t>weight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gain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trends.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99000" y="3703107"/>
            <a:ext cx="1618615" cy="77521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4450" marR="30480" indent="-6985">
              <a:lnSpc>
                <a:spcPct val="130000"/>
              </a:lnSpc>
              <a:spcBef>
                <a:spcPts val="114"/>
              </a:spcBef>
            </a:pPr>
            <a:r>
              <a:rPr sz="950" spc="10" dirty="0">
                <a:latin typeface="Arial MT"/>
                <a:cs typeface="Arial MT"/>
              </a:rPr>
              <a:t>Systolic</a:t>
            </a:r>
            <a:r>
              <a:rPr sz="950" spc="190" dirty="0">
                <a:latin typeface="Arial MT"/>
                <a:cs typeface="Arial MT"/>
              </a:rPr>
              <a:t> </a:t>
            </a:r>
            <a:r>
              <a:rPr sz="950" spc="65" dirty="0">
                <a:latin typeface="Arial MT"/>
                <a:cs typeface="Arial MT"/>
              </a:rPr>
              <a:t>blood</a:t>
            </a:r>
            <a:r>
              <a:rPr sz="950" spc="70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pressure </a:t>
            </a:r>
            <a:r>
              <a:rPr sz="1000" dirty="0">
                <a:solidFill>
                  <a:srgbClr val="111111"/>
                </a:solidFill>
                <a:latin typeface="Arial MT"/>
                <a:cs typeface="Arial MT"/>
              </a:rPr>
              <a:t>rises</a:t>
            </a:r>
            <a:r>
              <a:rPr sz="1000" spc="15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B3B3B"/>
                </a:solidFill>
                <a:latin typeface="Arial MT"/>
                <a:cs typeface="Arial MT"/>
              </a:rPr>
              <a:t>from</a:t>
            </a:r>
            <a:r>
              <a:rPr sz="1000" spc="5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</a:t>
            </a:r>
            <a:r>
              <a:rPr sz="1000" dirty="0">
                <a:solidFill>
                  <a:srgbClr val="464646"/>
                </a:solidFill>
                <a:latin typeface="Arial MT"/>
                <a:cs typeface="Arial MT"/>
              </a:rPr>
              <a:t>18</a:t>
            </a:r>
            <a:r>
              <a:rPr sz="1000" spc="1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mmHg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(s1 </a:t>
            </a:r>
            <a:r>
              <a:rPr sz="1000" dirty="0">
                <a:latin typeface="Arial MT"/>
                <a:cs typeface="Arial MT"/>
              </a:rPr>
              <a:t>meal/week)</a:t>
            </a:r>
            <a:r>
              <a:rPr sz="1000" spc="2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132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30" dirty="0">
                <a:solidFill>
                  <a:srgbClr val="4B4B4B"/>
                </a:solidFill>
                <a:latin typeface="Arial MT"/>
                <a:cs typeface="Arial MT"/>
              </a:rPr>
              <a:t>mmHg </a:t>
            </a:r>
            <a:r>
              <a:rPr sz="950" dirty="0">
                <a:solidFill>
                  <a:srgbClr val="3A3A3A"/>
                </a:solidFill>
                <a:latin typeface="Arial MT"/>
                <a:cs typeface="Arial MT"/>
              </a:rPr>
              <a:t>(&gt;5</a:t>
            </a:r>
            <a:r>
              <a:rPr sz="950" spc="45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950" spc="40" dirty="0">
                <a:latin typeface="Arial MT"/>
                <a:cs typeface="Arial MT"/>
              </a:rPr>
              <a:t>meals/week),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49379" y="3130305"/>
            <a:ext cx="1559560" cy="1188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335" marR="5080" indent="-1270">
              <a:lnSpc>
                <a:spcPct val="118300"/>
              </a:lnSpc>
              <a:spcBef>
                <a:spcPts val="114"/>
              </a:spcBef>
            </a:pPr>
            <a:r>
              <a:rPr sz="1050" spc="-10" dirty="0">
                <a:latin typeface="Arial MT"/>
                <a:cs typeface="Arial MT"/>
              </a:rPr>
              <a:t>Prediabetes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incidence </a:t>
            </a:r>
            <a:r>
              <a:rPr sz="1100" spc="-50" dirty="0">
                <a:latin typeface="Arial MT"/>
                <a:cs typeface="Arial MT"/>
              </a:rPr>
              <a:t>doubles: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12%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100" spc="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frequent </a:t>
            </a:r>
            <a:r>
              <a:rPr sz="1050" dirty="0">
                <a:latin typeface="Arial MT"/>
                <a:cs typeface="Arial MT"/>
              </a:rPr>
              <a:t>consumers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D1D1D"/>
                </a:solidFill>
                <a:latin typeface="Arial MT"/>
                <a:cs typeface="Arial MT"/>
              </a:rPr>
              <a:t>(&gt;4 </a:t>
            </a:r>
            <a:r>
              <a:rPr sz="1100" spc="-10" dirty="0">
                <a:latin typeface="Arial MT"/>
                <a:cs typeface="Arial MT"/>
              </a:rPr>
              <a:t>meals/week)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vs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2F2F2F"/>
                </a:solidFill>
                <a:latin typeface="Arial MT"/>
                <a:cs typeface="Arial MT"/>
              </a:rPr>
              <a:t>5°t</a:t>
            </a:r>
            <a:r>
              <a:rPr sz="1100" spc="-5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44444"/>
                </a:solidFill>
                <a:latin typeface="Arial MT"/>
                <a:cs typeface="Arial MT"/>
              </a:rPr>
              <a:t>in</a:t>
            </a:r>
            <a:r>
              <a:rPr sz="1100" spc="-6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rare </a:t>
            </a:r>
            <a:r>
              <a:rPr sz="1050" spc="-10" dirty="0">
                <a:latin typeface="Arial MT"/>
                <a:cs typeface="Arial MT"/>
              </a:rPr>
              <a:t>consumers, </a:t>
            </a:r>
            <a:r>
              <a:rPr sz="1050" spc="-25" dirty="0">
                <a:latin typeface="Arial MT"/>
                <a:cs typeface="Arial MT"/>
              </a:rPr>
              <a:t>linked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to </a:t>
            </a:r>
            <a:r>
              <a:rPr sz="1100" spc="-45" dirty="0">
                <a:latin typeface="Arial MT"/>
                <a:cs typeface="Arial MT"/>
              </a:rPr>
              <a:t>elevated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fasting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glucose.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79941" y="2375936"/>
            <a:ext cx="1495425" cy="980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335" marR="5080" indent="-1270">
              <a:lnSpc>
                <a:spcPct val="125600"/>
              </a:lnSpc>
              <a:spcBef>
                <a:spcPts val="90"/>
              </a:spcBef>
            </a:pPr>
            <a:r>
              <a:rPr sz="950" dirty="0">
                <a:latin typeface="Arial MT"/>
                <a:cs typeface="Arial MT"/>
              </a:rPr>
              <a:t>Data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reveal</a:t>
            </a:r>
            <a:r>
              <a:rPr sz="950" spc="50" dirty="0">
                <a:latin typeface="Arial MT"/>
                <a:cs typeface="Arial MT"/>
              </a:rPr>
              <a:t> </a:t>
            </a:r>
            <a:r>
              <a:rPr sz="950" dirty="0">
                <a:latin typeface="Arial MT"/>
                <a:cs typeface="Arial MT"/>
              </a:rPr>
              <a:t>a</a:t>
            </a:r>
            <a:r>
              <a:rPr sz="950" spc="1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strong </a:t>
            </a:r>
            <a:r>
              <a:rPr sz="1000" dirty="0">
                <a:latin typeface="Arial MT"/>
                <a:cs typeface="Arial MT"/>
              </a:rPr>
              <a:t>positive</a:t>
            </a:r>
            <a:r>
              <a:rPr sz="1000" spc="15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correlation </a:t>
            </a:r>
            <a:r>
              <a:rPr sz="1050" spc="-10" dirty="0">
                <a:latin typeface="Arial MT"/>
                <a:cs typeface="Arial MT"/>
              </a:rPr>
              <a:t>between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fast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food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meal </a:t>
            </a:r>
            <a:r>
              <a:rPr sz="1000" dirty="0">
                <a:latin typeface="Arial MT"/>
                <a:cs typeface="Arial MT"/>
              </a:rPr>
              <a:t>frequency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81818"/>
                </a:solidFill>
                <a:latin typeface="Arial MT"/>
                <a:cs typeface="Arial MT"/>
              </a:rPr>
              <a:t>and</a:t>
            </a:r>
            <a:r>
              <a:rPr sz="1000" spc="4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worsening </a:t>
            </a:r>
            <a:r>
              <a:rPr sz="1000" dirty="0">
                <a:latin typeface="Arial MT"/>
                <a:cs typeface="Arial MT"/>
              </a:rPr>
              <a:t>health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metrics.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uiExpand="1" build="allAtOnce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0562" y="1798011"/>
            <a:ext cx="267334" cy="39604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0746" y="4481298"/>
            <a:ext cx="297038" cy="3663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01141" y="3649597"/>
            <a:ext cx="376249" cy="3168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1141" y="2798094"/>
            <a:ext cx="376249" cy="3168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1691" y="2636876"/>
            <a:ext cx="3062409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05">
              <a:lnSpc>
                <a:spcPct val="100499"/>
              </a:lnSpc>
              <a:spcBef>
                <a:spcPts val="105"/>
              </a:spcBef>
            </a:pPr>
            <a:r>
              <a:rPr lang="en-US" sz="2800" b="1" dirty="0">
                <a:latin typeface="+mj-lt"/>
                <a:cs typeface="Calibri"/>
              </a:rPr>
              <a:t>Common Misconceptions About Fast Food and Health</a:t>
            </a:r>
            <a:endParaRPr sz="2800" b="1" dirty="0">
              <a:latin typeface="+mj-lt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770" y="4425923"/>
            <a:ext cx="2991485" cy="396262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310"/>
              </a:spcBef>
            </a:pPr>
            <a:r>
              <a:rPr sz="1100" spc="-35" dirty="0">
                <a:solidFill>
                  <a:srgbClr val="505050"/>
                </a:solidFill>
                <a:latin typeface="Arial MT"/>
                <a:cs typeface="Arial MT"/>
              </a:rPr>
              <a:t>Clarifying</a:t>
            </a:r>
            <a:r>
              <a:rPr sz="1100" spc="4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505050"/>
                </a:solidFill>
                <a:latin typeface="Arial MT"/>
                <a:cs typeface="Arial MT"/>
              </a:rPr>
              <a:t>freq</a:t>
            </a:r>
            <a:r>
              <a:rPr sz="1100" spc="-30" dirty="0">
                <a:solidFill>
                  <a:srgbClr val="525252"/>
                </a:solidFill>
                <a:latin typeface="Arial MT"/>
                <a:cs typeface="Arial MT"/>
              </a:rPr>
              <a:t>uent</a:t>
            </a:r>
            <a:r>
              <a:rPr sz="110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696969"/>
                </a:solidFill>
                <a:latin typeface="Arial MT"/>
                <a:cs typeface="Arial MT"/>
              </a:rPr>
              <a:t>myths</a:t>
            </a:r>
            <a:r>
              <a:rPr sz="1100" spc="-3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65656"/>
                </a:solidFill>
                <a:latin typeface="Arial MT"/>
                <a:cs typeface="Arial MT"/>
              </a:rPr>
              <a:t>to</a:t>
            </a:r>
            <a:r>
              <a:rPr sz="1100" spc="-4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565656"/>
                </a:solidFill>
                <a:latin typeface="Arial MT"/>
                <a:cs typeface="Arial MT"/>
              </a:rPr>
              <a:t>understand</a:t>
            </a:r>
            <a:r>
              <a:rPr sz="1100" spc="5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565656"/>
                </a:solidFill>
                <a:latin typeface="Arial MT"/>
                <a:cs typeface="Arial MT"/>
              </a:rPr>
              <a:t>real</a:t>
            </a:r>
            <a:r>
              <a:rPr sz="1100" spc="-15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lang="en-IN" sz="1100" spc="-70" dirty="0">
                <a:solidFill>
                  <a:srgbClr val="4F4F4F"/>
                </a:solidFill>
                <a:latin typeface="Arial MT"/>
                <a:cs typeface="Arial MT"/>
              </a:rPr>
              <a:t>health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050" spc="-10" dirty="0">
                <a:solidFill>
                  <a:srgbClr val="494949"/>
                </a:solidFill>
                <a:latin typeface="Arial MT"/>
                <a:cs typeface="Arial MT"/>
              </a:rPr>
              <a:t>implications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2113" y="2708249"/>
            <a:ext cx="45377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985">
              <a:lnSpc>
                <a:spcPct val="1237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Fast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food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is</a:t>
            </a:r>
            <a:r>
              <a:rPr sz="1050" spc="-7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always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unhealthy: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Some</a:t>
            </a:r>
            <a:r>
              <a:rPr sz="1050" spc="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choices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32323"/>
                </a:solidFill>
                <a:latin typeface="Arial MT"/>
                <a:cs typeface="Arial MT"/>
              </a:rPr>
              <a:t>can</a:t>
            </a:r>
            <a:r>
              <a:rPr sz="1050" spc="-9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383838"/>
                </a:solidFill>
                <a:latin typeface="Arial MT"/>
                <a:cs typeface="Arial MT"/>
              </a:rPr>
              <a:t>be</a:t>
            </a:r>
            <a:r>
              <a:rPr sz="1050" spc="-7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balanced,</a:t>
            </a:r>
            <a:r>
              <a:rPr sz="1050" spc="-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lower</a:t>
            </a:r>
            <a:r>
              <a:rPr sz="1050" spc="-1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sz="105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757575"/>
                </a:solidFill>
                <a:latin typeface="Arial MT"/>
                <a:cs typeface="Arial MT"/>
              </a:rPr>
              <a:t>or </a:t>
            </a:r>
            <a:r>
              <a:rPr sz="1050" spc="-30" dirty="0">
                <a:latin typeface="Arial MT"/>
                <a:cs typeface="Arial MT"/>
              </a:rPr>
              <a:t>sugar,</a:t>
            </a:r>
            <a:r>
              <a:rPr sz="1050" spc="35" dirty="0">
                <a:latin typeface="Arial MT"/>
                <a:cs typeface="Arial MT"/>
              </a:rPr>
              <a:t> </a:t>
            </a:r>
            <a:r>
              <a:rPr sz="1050" spc="-35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050" spc="-5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offer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reasonable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nutrition.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14613" y="3578521"/>
            <a:ext cx="4453255" cy="40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05">
              <a:lnSpc>
                <a:spcPct val="1234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Occasional</a:t>
            </a:r>
            <a:r>
              <a:rPr sz="1000" spc="2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fast</a:t>
            </a:r>
            <a:r>
              <a:rPr sz="1000" spc="1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food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harmless: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Even</a:t>
            </a:r>
            <a:r>
              <a:rPr sz="1000" spc="1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infrequent</a:t>
            </a:r>
            <a:r>
              <a:rPr sz="1000" spc="20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intake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may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impact</a:t>
            </a:r>
            <a:r>
              <a:rPr sz="1000" spc="1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health </a:t>
            </a:r>
            <a:r>
              <a:rPr sz="1000" dirty="0">
                <a:latin typeface="Arial MT"/>
                <a:cs typeface="Arial MT"/>
              </a:rPr>
              <a:t>negatively</a:t>
            </a:r>
            <a:r>
              <a:rPr sz="1000" spc="2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when</a:t>
            </a:r>
            <a:r>
              <a:rPr sz="1000" spc="1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combined</a:t>
            </a:r>
            <a:r>
              <a:rPr sz="1000" spc="2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31313"/>
                </a:solidFill>
                <a:latin typeface="Arial MT"/>
                <a:cs typeface="Arial MT"/>
              </a:rPr>
              <a:t>an</a:t>
            </a:r>
            <a:r>
              <a:rPr sz="1000" spc="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overall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poor</a:t>
            </a:r>
            <a:r>
              <a:rPr sz="1000" spc="15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died.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3252" y="4424248"/>
            <a:ext cx="442468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">
              <a:lnSpc>
                <a:spcPct val="112999"/>
              </a:lnSpc>
              <a:spcBef>
                <a:spcPts val="95"/>
              </a:spcBef>
            </a:pPr>
            <a:r>
              <a:rPr sz="1150" spc="-85" dirty="0">
                <a:latin typeface="Arial MT"/>
                <a:cs typeface="Arial MT"/>
              </a:rPr>
              <a:t>Only</a:t>
            </a:r>
            <a:r>
              <a:rPr sz="1150" dirty="0">
                <a:latin typeface="Arial MT"/>
                <a:cs typeface="Arial MT"/>
              </a:rPr>
              <a:t> </a:t>
            </a:r>
            <a:r>
              <a:rPr sz="1150" spc="-50" dirty="0">
                <a:latin typeface="Arial MT"/>
                <a:cs typeface="Arial MT"/>
              </a:rPr>
              <a:t>overweight</a:t>
            </a:r>
            <a:r>
              <a:rPr sz="1150" spc="30" dirty="0">
                <a:latin typeface="Arial MT"/>
                <a:cs typeface="Arial MT"/>
              </a:rPr>
              <a:t> </a:t>
            </a:r>
            <a:r>
              <a:rPr sz="1150" spc="-30" dirty="0">
                <a:latin typeface="Arial MT"/>
                <a:cs typeface="Arial MT"/>
              </a:rPr>
              <a:t>individuals</a:t>
            </a:r>
            <a:r>
              <a:rPr sz="1150" spc="45" dirty="0">
                <a:latin typeface="Arial MT"/>
                <a:cs typeface="Arial MT"/>
              </a:rPr>
              <a:t> </a:t>
            </a:r>
            <a:r>
              <a:rPr sz="1150" spc="-45" dirty="0">
                <a:latin typeface="Arial MT"/>
                <a:cs typeface="Arial MT"/>
              </a:rPr>
              <a:t>face</a:t>
            </a:r>
            <a:r>
              <a:rPr sz="1150" spc="-95" dirty="0">
                <a:latin typeface="Arial MT"/>
                <a:cs typeface="Arial MT"/>
              </a:rPr>
              <a:t> </a:t>
            </a:r>
            <a:r>
              <a:rPr sz="1150" spc="-50" dirty="0">
                <a:latin typeface="Arial MT"/>
                <a:cs typeface="Arial MT"/>
              </a:rPr>
              <a:t>health</a:t>
            </a:r>
            <a:r>
              <a:rPr sz="1150" spc="-15" dirty="0">
                <a:latin typeface="Arial MT"/>
                <a:cs typeface="Arial MT"/>
              </a:rPr>
              <a:t> </a:t>
            </a:r>
            <a:r>
              <a:rPr sz="1150" spc="-35" dirty="0">
                <a:latin typeface="Arial MT"/>
                <a:cs typeface="Arial MT"/>
              </a:rPr>
              <a:t>risks:</a:t>
            </a:r>
            <a:r>
              <a:rPr sz="1150" spc="-55" dirty="0">
                <a:latin typeface="Arial MT"/>
                <a:cs typeface="Arial MT"/>
              </a:rPr>
              <a:t> </a:t>
            </a:r>
            <a:r>
              <a:rPr sz="1150" spc="-65" dirty="0">
                <a:latin typeface="Arial MT"/>
                <a:cs typeface="Arial MT"/>
              </a:rPr>
              <a:t>Health</a:t>
            </a:r>
            <a:r>
              <a:rPr sz="1150" spc="10" dirty="0">
                <a:latin typeface="Arial MT"/>
                <a:cs typeface="Arial MT"/>
              </a:rPr>
              <a:t> </a:t>
            </a:r>
            <a:r>
              <a:rPr sz="1150" spc="-45" dirty="0">
                <a:solidFill>
                  <a:srgbClr val="0C0C0C"/>
                </a:solidFill>
                <a:latin typeface="Arial MT"/>
                <a:cs typeface="Arial MT"/>
              </a:rPr>
              <a:t>issues</a:t>
            </a:r>
            <a:r>
              <a:rPr sz="1150" spc="2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150" spc="-55" dirty="0">
                <a:latin typeface="Arial MT"/>
                <a:cs typeface="Arial MT"/>
              </a:rPr>
              <a:t>like</a:t>
            </a:r>
            <a:r>
              <a:rPr sz="1150" spc="-85" dirty="0">
                <a:latin typeface="Arial MT"/>
                <a:cs typeface="Arial MT"/>
              </a:rPr>
              <a:t> </a:t>
            </a:r>
            <a:r>
              <a:rPr sz="1150" spc="-60" dirty="0">
                <a:latin typeface="Arial MT"/>
                <a:cs typeface="Arial MT"/>
              </a:rPr>
              <a:t>high</a:t>
            </a:r>
            <a:r>
              <a:rPr sz="1150" spc="-20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blood </a:t>
            </a:r>
            <a:r>
              <a:rPr sz="1150" spc="-70" dirty="0">
                <a:latin typeface="Arial MT"/>
                <a:cs typeface="Arial MT"/>
              </a:rPr>
              <a:t>pressure</a:t>
            </a:r>
            <a:r>
              <a:rPr sz="1150" spc="-15" dirty="0">
                <a:latin typeface="Arial MT"/>
                <a:cs typeface="Arial MT"/>
              </a:rPr>
              <a:t> </a:t>
            </a:r>
            <a:r>
              <a:rPr sz="1150" spc="-80" dirty="0">
                <a:solidFill>
                  <a:srgbClr val="131313"/>
                </a:solidFill>
                <a:latin typeface="Arial MT"/>
                <a:cs typeface="Arial MT"/>
              </a:rPr>
              <a:t>and </a:t>
            </a:r>
            <a:r>
              <a:rPr sz="1150" spc="-60" dirty="0">
                <a:latin typeface="Arial MT"/>
                <a:cs typeface="Arial MT"/>
              </a:rPr>
              <a:t>elevated</a:t>
            </a:r>
            <a:r>
              <a:rPr sz="1150" spc="25" dirty="0">
                <a:latin typeface="Arial MT"/>
                <a:cs typeface="Arial MT"/>
              </a:rPr>
              <a:t> </a:t>
            </a:r>
            <a:r>
              <a:rPr sz="1150" spc="-50" dirty="0">
                <a:latin typeface="Arial MT"/>
                <a:cs typeface="Arial MT"/>
              </a:rPr>
              <a:t>cholesterol</a:t>
            </a:r>
            <a:r>
              <a:rPr sz="1150" spc="30" dirty="0">
                <a:latin typeface="Arial MT"/>
                <a:cs typeface="Arial MT"/>
              </a:rPr>
              <a:t> </a:t>
            </a:r>
            <a:r>
              <a:rPr sz="1150" spc="-30" dirty="0">
                <a:latin typeface="Arial MT"/>
                <a:cs typeface="Arial MT"/>
              </a:rPr>
              <a:t>affect</a:t>
            </a:r>
            <a:r>
              <a:rPr sz="1150" spc="-20" dirty="0">
                <a:latin typeface="Arial MT"/>
                <a:cs typeface="Arial MT"/>
              </a:rPr>
              <a:t> </a:t>
            </a:r>
            <a:r>
              <a:rPr sz="1150" spc="-50" dirty="0">
                <a:latin typeface="Arial MT"/>
                <a:cs typeface="Arial MT"/>
              </a:rPr>
              <a:t>all</a:t>
            </a:r>
            <a:r>
              <a:rPr sz="1150" spc="-55" dirty="0">
                <a:latin typeface="Arial MT"/>
                <a:cs typeface="Arial MT"/>
              </a:rPr>
              <a:t> </a:t>
            </a:r>
            <a:r>
              <a:rPr sz="1150" spc="-65" dirty="0">
                <a:latin typeface="Arial MT"/>
                <a:cs typeface="Arial MT"/>
              </a:rPr>
              <a:t>body</a:t>
            </a:r>
            <a:r>
              <a:rPr sz="1150" spc="-5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types.</a:t>
            </a:r>
            <a:endParaRPr sz="115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5176" y="1832726"/>
            <a:ext cx="267334" cy="39604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5146" y="2644625"/>
            <a:ext cx="465360" cy="4653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505245" y="3565437"/>
            <a:ext cx="485775" cy="495300"/>
            <a:chOff x="9505245" y="3565437"/>
            <a:chExt cx="485775" cy="4953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5245" y="3565437"/>
              <a:ext cx="485163" cy="4950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5245" y="3565437"/>
              <a:ext cx="485163" cy="49506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9505245" y="4506052"/>
            <a:ext cx="485775" cy="485775"/>
            <a:chOff x="9505245" y="4506052"/>
            <a:chExt cx="485775" cy="48577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05245" y="4506052"/>
              <a:ext cx="485163" cy="4851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05245" y="4506052"/>
              <a:ext cx="485163" cy="48515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40533" y="2900908"/>
            <a:ext cx="2969588" cy="172354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4604" marR="5080" indent="-2540">
              <a:lnSpc>
                <a:spcPts val="3270"/>
              </a:lnSpc>
              <a:spcBef>
                <a:spcPts val="80"/>
              </a:spcBef>
            </a:pPr>
            <a:r>
              <a:rPr sz="2800" b="1" dirty="0">
                <a:latin typeface="+mj-lt"/>
              </a:rPr>
              <a:t>C</a:t>
            </a:r>
            <a:r>
              <a:rPr lang="en-IN" sz="2800" b="1" dirty="0">
                <a:latin typeface="+mj-lt"/>
              </a:rPr>
              <a:t>a</a:t>
            </a:r>
            <a:r>
              <a:rPr sz="2800" b="1" dirty="0">
                <a:latin typeface="+mj-lt"/>
              </a:rPr>
              <a:t>se</a:t>
            </a:r>
            <a:r>
              <a:rPr sz="2800" b="1" spc="-70" dirty="0">
                <a:latin typeface="+mj-lt"/>
              </a:rPr>
              <a:t> </a:t>
            </a:r>
            <a:r>
              <a:rPr sz="2800" b="1" spc="-10" dirty="0">
                <a:latin typeface="+mj-lt"/>
              </a:rPr>
              <a:t>Studies </a:t>
            </a:r>
            <a:r>
              <a:rPr sz="2800" b="1" dirty="0">
                <a:latin typeface="+mj-lt"/>
              </a:rPr>
              <a:t>Linking</a:t>
            </a:r>
            <a:r>
              <a:rPr sz="2800" b="1" spc="-70" dirty="0">
                <a:latin typeface="+mj-lt"/>
              </a:rPr>
              <a:t> </a:t>
            </a:r>
            <a:r>
              <a:rPr sz="2800" b="1" spc="-50" dirty="0">
                <a:latin typeface="+mj-lt"/>
              </a:rPr>
              <a:t>F</a:t>
            </a:r>
            <a:r>
              <a:rPr lang="en-IN" sz="2800" b="1" spc="-50" dirty="0">
                <a:latin typeface="+mj-lt"/>
              </a:rPr>
              <a:t>a</a:t>
            </a:r>
            <a:r>
              <a:rPr sz="2800" b="1" spc="-50" dirty="0" err="1">
                <a:latin typeface="+mj-lt"/>
              </a:rPr>
              <a:t>st</a:t>
            </a:r>
            <a:r>
              <a:rPr sz="2800" b="1" spc="-105" dirty="0">
                <a:latin typeface="+mj-lt"/>
              </a:rPr>
              <a:t> </a:t>
            </a:r>
            <a:r>
              <a:rPr sz="2800" b="1" spc="-20" dirty="0">
                <a:latin typeface="+mj-lt"/>
              </a:rPr>
              <a:t>Food</a:t>
            </a:r>
            <a:r>
              <a:rPr sz="2800" b="1" spc="-135" dirty="0">
                <a:latin typeface="+mj-lt"/>
              </a:rPr>
              <a:t> </a:t>
            </a:r>
            <a:r>
              <a:rPr sz="2800" b="1" spc="-25" dirty="0">
                <a:latin typeface="+mj-lt"/>
              </a:rPr>
              <a:t>to</a:t>
            </a:r>
            <a:endParaRPr sz="2800" b="1" dirty="0">
              <a:latin typeface="+mj-l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+mj-lt"/>
              </a:rPr>
              <a:t>He</a:t>
            </a:r>
            <a:r>
              <a:rPr lang="en-IN" sz="2800" b="1" dirty="0">
                <a:latin typeface="+mj-lt"/>
              </a:rPr>
              <a:t>a</a:t>
            </a:r>
            <a:r>
              <a:rPr sz="2800" b="1" dirty="0">
                <a:latin typeface="+mj-lt"/>
              </a:rPr>
              <a:t>lth</a:t>
            </a:r>
            <a:r>
              <a:rPr sz="2800" b="1" spc="90" dirty="0">
                <a:latin typeface="+mj-lt"/>
              </a:rPr>
              <a:t> </a:t>
            </a:r>
            <a:r>
              <a:rPr sz="2800" b="1" spc="-10" dirty="0">
                <a:latin typeface="+mj-lt"/>
              </a:rPr>
              <a:t>Risks</a:t>
            </a:r>
            <a:endParaRPr sz="2800" b="1" dirty="0">
              <a:latin typeface="+mj-l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3842" y="4753140"/>
            <a:ext cx="3039745" cy="3754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225" marR="5080" indent="-10160">
              <a:lnSpc>
                <a:spcPct val="112200"/>
              </a:lnSpc>
              <a:spcBef>
                <a:spcPts val="90"/>
              </a:spcBef>
            </a:pPr>
            <a:r>
              <a:rPr sz="1100" spc="-60" dirty="0">
                <a:solidFill>
                  <a:srgbClr val="494949"/>
                </a:solidFill>
                <a:latin typeface="Arial MT"/>
                <a:cs typeface="Arial MT"/>
              </a:rPr>
              <a:t>Data</a:t>
            </a:r>
            <a:r>
              <a:rPr sz="1100" spc="-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4D4D4D"/>
                </a:solidFill>
                <a:latin typeface="Arial MT"/>
                <a:cs typeface="Arial MT"/>
              </a:rPr>
              <a:t>reveals</a:t>
            </a:r>
            <a:r>
              <a:rPr sz="1100" spc="-3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6D6D6D"/>
                </a:solidFill>
                <a:latin typeface="Arial MT"/>
                <a:cs typeface="Arial MT"/>
              </a:rPr>
              <a:t>higher</a:t>
            </a:r>
            <a:r>
              <a:rPr sz="1100" spc="25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3F3F3F"/>
                </a:solidFill>
                <a:latin typeface="Arial MT"/>
                <a:cs typeface="Arial MT"/>
              </a:rPr>
              <a:t>diabetes</a:t>
            </a:r>
            <a:r>
              <a:rPr sz="1100" spc="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646464"/>
                </a:solidFill>
                <a:latin typeface="Arial MT"/>
                <a:cs typeface="Arial MT"/>
              </a:rPr>
              <a:t>and</a:t>
            </a:r>
            <a:r>
              <a:rPr sz="1100" spc="-65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494949"/>
                </a:solidFill>
                <a:latin typeface="Arial MT"/>
                <a:cs typeface="Arial MT"/>
              </a:rPr>
              <a:t>obesity</a:t>
            </a:r>
            <a:r>
              <a:rPr sz="1100" spc="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100" spc="-20" dirty="0" err="1">
                <a:solidFill>
                  <a:srgbClr val="545454"/>
                </a:solidFill>
                <a:latin typeface="Arial MT"/>
                <a:cs typeface="Arial MT"/>
              </a:rPr>
              <a:t>ra</a:t>
            </a:r>
            <a:r>
              <a:rPr sz="1100" spc="-20" dirty="0" err="1">
                <a:solidFill>
                  <a:srgbClr val="525252"/>
                </a:solidFill>
                <a:latin typeface="Arial MT"/>
                <a:cs typeface="Arial MT"/>
              </a:rPr>
              <a:t>from</a:t>
            </a:r>
            <a:r>
              <a:rPr sz="1100" spc="-2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4D4D4D"/>
                </a:solidFill>
                <a:latin typeface="Arial MT"/>
                <a:cs typeface="Arial MT"/>
              </a:rPr>
              <a:t>frequent</a:t>
            </a:r>
            <a:r>
              <a:rPr sz="1100" spc="-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65656"/>
                </a:solidFill>
                <a:latin typeface="Arial MT"/>
                <a:cs typeface="Arial MT"/>
              </a:rPr>
              <a:t>fast</a:t>
            </a:r>
            <a:r>
              <a:rPr sz="1100" spc="-5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Arial MT"/>
                <a:cs typeface="Arial MT"/>
              </a:rPr>
              <a:t>food</a:t>
            </a:r>
            <a:r>
              <a:rPr sz="1100" spc="-6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B4B4B"/>
                </a:solidFill>
                <a:latin typeface="Arial MT"/>
                <a:cs typeface="Arial MT"/>
              </a:rPr>
              <a:t>consum|›1ion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8654" y="2636049"/>
            <a:ext cx="4500245" cy="421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 marR="5080" indent="-5080">
              <a:lnSpc>
                <a:spcPct val="118100"/>
              </a:lnSpc>
              <a:spcBef>
                <a:spcPts val="90"/>
              </a:spcBef>
            </a:pPr>
            <a:r>
              <a:rPr sz="1100" spc="-65" dirty="0">
                <a:solidFill>
                  <a:srgbClr val="1A1A1A"/>
                </a:solidFill>
                <a:latin typeface="Arial MT"/>
                <a:cs typeface="Arial MT"/>
              </a:rPr>
              <a:t>A</a:t>
            </a:r>
            <a:r>
              <a:rPr sz="1100" spc="-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longitudinal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study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found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343434"/>
                </a:solidFill>
                <a:latin typeface="Arial MT"/>
                <a:cs typeface="Arial MT"/>
              </a:rPr>
              <a:t>a</a:t>
            </a:r>
            <a:r>
              <a:rPr sz="1100" spc="-5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25%</a:t>
            </a:r>
            <a:r>
              <a:rPr sz="1100" spc="-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higher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incidence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type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2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diabetes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among </a:t>
            </a:r>
            <a:r>
              <a:rPr sz="1100" spc="-20" dirty="0">
                <a:solidFill>
                  <a:srgbClr val="131313"/>
                </a:solidFill>
                <a:latin typeface="Arial MT"/>
                <a:cs typeface="Arial MT"/>
              </a:rPr>
              <a:t>adults</a:t>
            </a:r>
            <a:r>
              <a:rPr sz="1100" spc="-55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consuming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food</a:t>
            </a:r>
            <a:r>
              <a:rPr sz="1100" spc="-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more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than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four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F0F0F"/>
                </a:solidFill>
                <a:latin typeface="Arial MT"/>
                <a:cs typeface="Arial MT"/>
              </a:rPr>
              <a:t>times</a:t>
            </a:r>
            <a:r>
              <a:rPr sz="1100" spc="4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weekly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over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five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years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8661" y="3596262"/>
            <a:ext cx="4396105" cy="3930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7145" marR="5080" indent="-5080">
              <a:lnSpc>
                <a:spcPct val="107300"/>
              </a:lnSpc>
              <a:spcBef>
                <a:spcPts val="25"/>
              </a:spcBef>
            </a:pPr>
            <a:r>
              <a:rPr sz="1150" spc="-170" dirty="0">
                <a:solidFill>
                  <a:srgbClr val="0F0F0F"/>
                </a:solidFill>
                <a:latin typeface="Arial MT"/>
                <a:cs typeface="Arial MT"/>
              </a:rPr>
              <a:t>A</a:t>
            </a:r>
            <a:r>
              <a:rPr sz="1150" spc="5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150" spc="-90" dirty="0">
                <a:solidFill>
                  <a:srgbClr val="0C0C0C"/>
                </a:solidFill>
                <a:latin typeface="Arial MT"/>
                <a:cs typeface="Arial MT"/>
              </a:rPr>
              <a:t>survey</a:t>
            </a:r>
            <a:r>
              <a:rPr sz="1150" spc="7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150" spc="-65" dirty="0">
                <a:latin typeface="Arial MT"/>
                <a:cs typeface="Arial MT"/>
              </a:rPr>
              <a:t>reported</a:t>
            </a:r>
            <a:r>
              <a:rPr sz="1150" spc="-10" dirty="0">
                <a:latin typeface="Arial MT"/>
                <a:cs typeface="Arial MT"/>
              </a:rPr>
              <a:t> </a:t>
            </a:r>
            <a:r>
              <a:rPr sz="1150" spc="-110" dirty="0">
                <a:latin typeface="Arial MT"/>
                <a:cs typeface="Arial MT"/>
              </a:rPr>
              <a:t>a</a:t>
            </a:r>
            <a:r>
              <a:rPr sz="1150" spc="5" dirty="0">
                <a:latin typeface="Arial MT"/>
                <a:cs typeface="Arial MT"/>
              </a:rPr>
              <a:t> </a:t>
            </a:r>
            <a:r>
              <a:rPr sz="1150" spc="-135" dirty="0">
                <a:latin typeface="Arial MT"/>
                <a:cs typeface="Arial MT"/>
              </a:rPr>
              <a:t>30%</a:t>
            </a:r>
            <a:r>
              <a:rPr sz="1150" spc="-100" dirty="0">
                <a:latin typeface="Arial MT"/>
                <a:cs typeface="Arial MT"/>
              </a:rPr>
              <a:t> </a:t>
            </a:r>
            <a:r>
              <a:rPr sz="1150" spc="-50" dirty="0">
                <a:latin typeface="Arial MT"/>
                <a:cs typeface="Arial MT"/>
              </a:rPr>
              <a:t>increase</a:t>
            </a:r>
            <a:r>
              <a:rPr sz="1150" spc="-35" dirty="0">
                <a:latin typeface="Arial MT"/>
                <a:cs typeface="Arial MT"/>
              </a:rPr>
              <a:t> </a:t>
            </a:r>
            <a:r>
              <a:rPr sz="1150" dirty="0">
                <a:latin typeface="Arial MT"/>
                <a:cs typeface="Arial MT"/>
              </a:rPr>
              <a:t>in</a:t>
            </a:r>
            <a:r>
              <a:rPr sz="1150" spc="-110" dirty="0">
                <a:latin typeface="Arial MT"/>
                <a:cs typeface="Arial MT"/>
              </a:rPr>
              <a:t> </a:t>
            </a:r>
            <a:r>
              <a:rPr sz="1150" spc="-45" dirty="0">
                <a:latin typeface="Arial MT"/>
                <a:cs typeface="Arial MT"/>
              </a:rPr>
              <a:t>obesity</a:t>
            </a:r>
            <a:r>
              <a:rPr sz="1150" spc="-10" dirty="0">
                <a:latin typeface="Arial MT"/>
                <a:cs typeface="Arial MT"/>
              </a:rPr>
              <a:t> </a:t>
            </a:r>
            <a:r>
              <a:rPr sz="1150" spc="-45" dirty="0">
                <a:latin typeface="Arial MT"/>
                <a:cs typeface="Arial MT"/>
              </a:rPr>
              <a:t>rates </a:t>
            </a:r>
            <a:r>
              <a:rPr sz="1150" spc="-70" dirty="0">
                <a:latin typeface="Arial MT"/>
                <a:cs typeface="Arial MT"/>
              </a:rPr>
              <a:t>among</a:t>
            </a:r>
            <a:r>
              <a:rPr sz="1150" spc="25" dirty="0">
                <a:latin typeface="Arial MT"/>
                <a:cs typeface="Arial MT"/>
              </a:rPr>
              <a:t> </a:t>
            </a:r>
            <a:r>
              <a:rPr sz="1150" spc="-55" dirty="0">
                <a:latin typeface="Arial MT"/>
                <a:cs typeface="Arial MT"/>
              </a:rPr>
              <a:t>adolescents</a:t>
            </a:r>
            <a:r>
              <a:rPr sz="1150" spc="105" dirty="0">
                <a:latin typeface="Arial MT"/>
                <a:cs typeface="Arial MT"/>
              </a:rPr>
              <a:t> </a:t>
            </a:r>
            <a:r>
              <a:rPr sz="1150" spc="-20" dirty="0">
                <a:latin typeface="Arial MT"/>
                <a:cs typeface="Arial MT"/>
              </a:rPr>
              <a:t>with </a:t>
            </a:r>
            <a:r>
              <a:rPr sz="1150" spc="-65" dirty="0">
                <a:latin typeface="Arial MT"/>
                <a:cs typeface="Arial MT"/>
              </a:rPr>
              <a:t>daily</a:t>
            </a:r>
            <a:r>
              <a:rPr sz="1150" spc="-20" dirty="0">
                <a:latin typeface="Arial MT"/>
                <a:cs typeface="Arial MT"/>
              </a:rPr>
              <a:t> </a:t>
            </a:r>
            <a:r>
              <a:rPr sz="1150" spc="-10" dirty="0">
                <a:solidFill>
                  <a:srgbClr val="1D1D1D"/>
                </a:solidFill>
                <a:latin typeface="Arial MT"/>
                <a:cs typeface="Arial MT"/>
              </a:rPr>
              <a:t>fast</a:t>
            </a:r>
            <a:r>
              <a:rPr sz="1150" spc="-2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150" spc="-55" dirty="0">
                <a:latin typeface="Arial MT"/>
                <a:cs typeface="Arial MT"/>
              </a:rPr>
              <a:t>food</a:t>
            </a:r>
            <a:r>
              <a:rPr sz="1150" spc="-35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intake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85057" y="4507379"/>
            <a:ext cx="4017010" cy="421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4" marR="5080" indent="-2540">
              <a:lnSpc>
                <a:spcPct val="118100"/>
              </a:lnSpc>
              <a:spcBef>
                <a:spcPts val="90"/>
              </a:spcBef>
            </a:pPr>
            <a:r>
              <a:rPr sz="1100" spc="-65" dirty="0">
                <a:latin typeface="Arial MT"/>
                <a:cs typeface="Arial MT"/>
              </a:rPr>
              <a:t>These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case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studies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demonstrate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clear</a:t>
            </a:r>
            <a:r>
              <a:rPr sz="1100" spc="-10" dirty="0">
                <a:latin typeface="Arial MT"/>
                <a:cs typeface="Arial MT"/>
              </a:rPr>
              <a:t> direct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relationship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between </a:t>
            </a:r>
            <a:r>
              <a:rPr sz="1100" spc="-20" dirty="0">
                <a:latin typeface="Arial MT"/>
                <a:cs typeface="Arial MT"/>
              </a:rPr>
              <a:t>frequent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food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consumption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and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chronic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health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conditions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4795" y="1797985"/>
            <a:ext cx="267334" cy="39605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2228" y="1510845"/>
            <a:ext cx="5148674" cy="464372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1844" y="2064178"/>
            <a:ext cx="1922650" cy="305763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-635">
              <a:lnSpc>
                <a:spcPct val="102299"/>
              </a:lnSpc>
              <a:spcBef>
                <a:spcPts val="35"/>
              </a:spcBef>
            </a:pPr>
            <a:r>
              <a:rPr sz="28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Health</a:t>
            </a:r>
            <a:r>
              <a:rPr sz="2800" b="1" spc="-15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Imp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acts </a:t>
            </a:r>
            <a:r>
              <a:rPr sz="2800" b="1" spc="8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of </a:t>
            </a:r>
            <a:r>
              <a:rPr sz="2800" b="1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F</a:t>
            </a:r>
            <a:r>
              <a:rPr lang="en-IN" sz="2800" b="1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AST  </a:t>
            </a:r>
            <a:r>
              <a:rPr sz="2800" b="1" spc="-3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Food</a:t>
            </a:r>
            <a:r>
              <a:rPr sz="28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Across</a:t>
            </a:r>
            <a:r>
              <a:rPr lang="en-IN"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Demographics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7964" y="2592036"/>
            <a:ext cx="80581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solidFill>
                  <a:srgbClr val="5D5D5D"/>
                </a:solidFill>
                <a:latin typeface="Arial MT"/>
                <a:cs typeface="Arial MT"/>
              </a:rPr>
              <a:t>Youth</a:t>
            </a:r>
            <a:r>
              <a:rPr sz="1000" spc="40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5B5B5B"/>
                </a:solidFill>
                <a:latin typeface="Arial MT"/>
                <a:cs typeface="Arial MT"/>
              </a:rPr>
              <a:t>(15-</a:t>
            </a:r>
            <a:r>
              <a:rPr sz="1000" spc="-25" dirty="0">
                <a:solidFill>
                  <a:srgbClr val="5B5B5B"/>
                </a:solidFill>
                <a:latin typeface="Arial MT"/>
                <a:cs typeface="Arial MT"/>
              </a:rPr>
              <a:t>24)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0631" y="3419004"/>
            <a:ext cx="21018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25" dirty="0">
                <a:solidFill>
                  <a:srgbClr val="757575"/>
                </a:solidFill>
                <a:latin typeface="Arial MT"/>
                <a:cs typeface="Arial MT"/>
              </a:rPr>
              <a:t>64)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6504" y="4047531"/>
            <a:ext cx="36957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-10" dirty="0">
                <a:solidFill>
                  <a:srgbClr val="4F4F4F"/>
                </a:solidFill>
                <a:latin typeface="Arial MT"/>
                <a:cs typeface="Arial MT"/>
              </a:rPr>
              <a:t>Males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6709" y="4626965"/>
            <a:ext cx="52895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0" dirty="0">
                <a:solidFill>
                  <a:srgbClr val="565656"/>
                </a:solidFill>
                <a:latin typeface="Arial MT"/>
                <a:cs typeface="Arial MT"/>
              </a:rPr>
              <a:t>Females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8505" y="5196085"/>
            <a:ext cx="744220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solidFill>
                  <a:srgbClr val="525252"/>
                </a:solidFill>
                <a:latin typeface="Arial MT"/>
                <a:cs typeface="Arial MT"/>
              </a:rPr>
              <a:t>Low</a:t>
            </a:r>
            <a:r>
              <a:rPr sz="1000" spc="7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565656"/>
                </a:solidFill>
                <a:latin typeface="Arial MT"/>
                <a:cs typeface="Arial MT"/>
              </a:rPr>
              <a:t>income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07409" y="5755304"/>
            <a:ext cx="7658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646464"/>
                </a:solidFill>
                <a:latin typeface="Arial MT"/>
                <a:cs typeface="Arial MT"/>
              </a:rPr>
              <a:t>High</a:t>
            </a:r>
            <a:r>
              <a:rPr sz="1050" spc="-60" dirty="0">
                <a:solidFill>
                  <a:srgbClr val="64646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707070"/>
                </a:solidFill>
                <a:latin typeface="Arial MT"/>
                <a:cs typeface="Arial MT"/>
              </a:rPr>
              <a:t>Income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46900" y="3289048"/>
            <a:ext cx="185420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spc="-70" dirty="0">
                <a:solidFill>
                  <a:srgbClr val="4D4D4D"/>
                </a:solidFill>
                <a:latin typeface="Courier New"/>
                <a:cs typeface="Courier New"/>
              </a:rPr>
              <a:t>25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37209" y="5739833"/>
            <a:ext cx="18478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25" dirty="0">
                <a:solidFill>
                  <a:srgbClr val="525252"/>
                </a:solidFill>
                <a:latin typeface="Calibri"/>
                <a:cs typeface="Calibri"/>
              </a:rPr>
              <a:t>15</a:t>
            </a:r>
            <a:endParaRPr sz="115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  <p:sndAc>
          <p:stSnd>
            <p:snd r:embed="rId2" name="arrow.wav"/>
          </p:stSnd>
        </p:sndAc>
      </p:transition>
    </mc:Choice>
    <mc:Fallback>
      <p:transition spd="slow">
        <p:wip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7853" y="2476299"/>
            <a:ext cx="2237693" cy="267333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700" y="5149636"/>
            <a:ext cx="761999" cy="6138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2290" y="1356309"/>
            <a:ext cx="8788819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2800" b="1" spc="7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Nutrition</a:t>
            </a:r>
            <a:r>
              <a:rPr lang="en-IN" sz="2800" b="1" spc="7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a</a:t>
            </a:r>
            <a:r>
              <a:rPr sz="2800" b="1" spc="7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l</a:t>
            </a:r>
            <a:r>
              <a:rPr sz="2800" b="1" spc="-10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Deficits</a:t>
            </a:r>
            <a:r>
              <a:rPr sz="2800" b="1" spc="7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in</a:t>
            </a:r>
            <a:r>
              <a:rPr lang="en-IN" sz="2800" b="1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Fast </a:t>
            </a:r>
            <a:r>
              <a:rPr sz="2800" b="1" spc="-2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Food</a:t>
            </a:r>
            <a:r>
              <a:rPr sz="2800" b="1" spc="-16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Diets</a:t>
            </a:r>
            <a:r>
              <a:rPr sz="2800" b="1" spc="-16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Driving</a:t>
            </a:r>
            <a:r>
              <a:rPr sz="2800" b="1" spc="-9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Chronic</a:t>
            </a:r>
            <a:r>
              <a:rPr sz="2800" b="1" spc="45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Risks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715" y="2806292"/>
            <a:ext cx="3370579" cy="6870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552575" algn="r">
              <a:lnSpc>
                <a:spcPct val="120900"/>
              </a:lnSpc>
              <a:spcBef>
                <a:spcPts val="240"/>
              </a:spcBef>
            </a:pPr>
            <a:r>
              <a:rPr sz="1250" spc="50" dirty="0">
                <a:latin typeface="Arial MT"/>
                <a:cs typeface="Arial MT"/>
              </a:rPr>
              <a:t>Dietary</a:t>
            </a:r>
            <a:r>
              <a:rPr sz="1250" spc="5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Fiber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Deficiency </a:t>
            </a:r>
            <a:r>
              <a:rPr sz="1100" spc="-45" dirty="0">
                <a:solidFill>
                  <a:srgbClr val="525252"/>
                </a:solidFill>
                <a:latin typeface="Arial MT"/>
                <a:cs typeface="Arial MT"/>
              </a:rPr>
              <a:t>Lack</a:t>
            </a:r>
            <a:r>
              <a:rPr sz="1100" spc="-1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D4D4D"/>
                </a:solidFill>
                <a:latin typeface="Arial MT"/>
                <a:cs typeface="Arial MT"/>
              </a:rPr>
              <a:t>of</a:t>
            </a:r>
            <a:r>
              <a:rPr sz="1100" spc="-2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D4D4D"/>
                </a:solidFill>
                <a:latin typeface="Arial MT"/>
                <a:cs typeface="Arial MT"/>
              </a:rPr>
              <a:t>fiber</a:t>
            </a:r>
            <a:r>
              <a:rPr sz="1100" spc="-1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525252"/>
                </a:solidFill>
                <a:latin typeface="Arial MT"/>
                <a:cs typeface="Arial MT"/>
              </a:rPr>
              <a:t>impairs</a:t>
            </a:r>
            <a:r>
              <a:rPr sz="1100" spc="1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464646"/>
                </a:solidFill>
                <a:latin typeface="Arial MT"/>
                <a:cs typeface="Arial MT"/>
              </a:rPr>
              <a:t>digestion</a:t>
            </a:r>
            <a:r>
              <a:rPr sz="11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solidFill>
                  <a:srgbClr val="5D5D5D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4F4F4F"/>
                </a:solidFill>
                <a:latin typeface="Arial MT"/>
                <a:cs typeface="Arial MT"/>
              </a:rPr>
              <a:t>cholesterol</a:t>
            </a:r>
            <a:r>
              <a:rPr sz="1100" spc="-3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414141"/>
                </a:solidFill>
                <a:latin typeface="Arial MT"/>
                <a:cs typeface="Arial MT"/>
              </a:rPr>
              <a:t>regulation, </a:t>
            </a:r>
            <a:r>
              <a:rPr sz="1100" spc="-35" dirty="0">
                <a:solidFill>
                  <a:srgbClr val="4D4D4D"/>
                </a:solidFill>
                <a:latin typeface="Arial MT"/>
                <a:cs typeface="Arial MT"/>
              </a:rPr>
              <a:t>increasing</a:t>
            </a:r>
            <a:r>
              <a:rPr sz="1100" spc="-4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525252"/>
                </a:solidFill>
                <a:latin typeface="Arial MT"/>
                <a:cs typeface="Arial MT"/>
              </a:rPr>
              <a:t>risks </a:t>
            </a:r>
            <a:r>
              <a:rPr sz="1100" dirty="0">
                <a:solidFill>
                  <a:srgbClr val="565656"/>
                </a:solidFill>
                <a:latin typeface="Arial MT"/>
                <a:cs typeface="Arial MT"/>
              </a:rPr>
              <a:t>of</a:t>
            </a:r>
            <a:r>
              <a:rPr sz="1100" spc="-75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F4F4F"/>
                </a:solidFill>
                <a:latin typeface="Arial MT"/>
                <a:cs typeface="Arial MT"/>
              </a:rPr>
              <a:t>constipation</a:t>
            </a:r>
            <a:r>
              <a:rPr sz="1100" spc="2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4F4F4F"/>
                </a:solidFill>
                <a:latin typeface="Arial MT"/>
                <a:cs typeface="Arial MT"/>
              </a:rPr>
              <a:t>and</a:t>
            </a:r>
            <a:r>
              <a:rPr sz="1100" spc="-2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444444"/>
                </a:solidFill>
                <a:latin typeface="Arial MT"/>
                <a:cs typeface="Arial MT"/>
              </a:rPr>
              <a:t>heart</a:t>
            </a:r>
            <a:r>
              <a:rPr sz="1100" spc="-2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F4F4F"/>
                </a:solidFill>
                <a:latin typeface="Arial MT"/>
                <a:cs typeface="Arial MT"/>
              </a:rPr>
              <a:t>disease.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9168" y="4366534"/>
            <a:ext cx="3296285" cy="70040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15"/>
              </a:spcBef>
            </a:pPr>
            <a:r>
              <a:rPr sz="1300" spc="60" dirty="0">
                <a:latin typeface="Arial MT"/>
                <a:cs typeface="Arial MT"/>
              </a:rPr>
              <a:t>Calcium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spc="60" dirty="0">
                <a:latin typeface="Arial MT"/>
                <a:cs typeface="Arial MT"/>
              </a:rPr>
              <a:t>and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spc="10" dirty="0">
                <a:latin typeface="Arial MT"/>
                <a:cs typeface="Arial MT"/>
              </a:rPr>
              <a:t>Magnesium</a:t>
            </a:r>
            <a:r>
              <a:rPr sz="1300" spc="9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Shortages</a:t>
            </a:r>
            <a:endParaRPr sz="1300" dirty="0">
              <a:latin typeface="Arial MT"/>
              <a:cs typeface="Arial MT"/>
            </a:endParaRPr>
          </a:p>
          <a:p>
            <a:pPr marR="8890" algn="r">
              <a:lnSpc>
                <a:spcPct val="100000"/>
              </a:lnSpc>
              <a:spcBef>
                <a:spcPts val="434"/>
              </a:spcBef>
            </a:pPr>
            <a:r>
              <a:rPr sz="1100" spc="-35" dirty="0">
                <a:solidFill>
                  <a:srgbClr val="4B4B4B"/>
                </a:solidFill>
                <a:latin typeface="Arial MT"/>
                <a:cs typeface="Arial MT"/>
              </a:rPr>
              <a:t>Mineral</a:t>
            </a:r>
            <a:r>
              <a:rPr sz="1100" spc="-4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deficits</a:t>
            </a:r>
            <a:r>
              <a:rPr sz="11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505050"/>
                </a:solidFill>
                <a:latin typeface="Arial MT"/>
                <a:cs typeface="Arial MT"/>
              </a:rPr>
              <a:t>undermine</a:t>
            </a:r>
            <a:r>
              <a:rPr sz="1100" spc="35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4B4B4B"/>
                </a:solidFill>
                <a:latin typeface="Arial MT"/>
                <a:cs typeface="Arial MT"/>
              </a:rPr>
              <a:t>bone</a:t>
            </a:r>
            <a:r>
              <a:rPr sz="1100" spc="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4D4D4D"/>
                </a:solidFill>
                <a:latin typeface="Arial MT"/>
                <a:cs typeface="Arial MT"/>
              </a:rPr>
              <a:t>strength</a:t>
            </a:r>
            <a:r>
              <a:rPr sz="1100" spc="-4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545454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84848"/>
                </a:solidFill>
                <a:latin typeface="Arial MT"/>
                <a:cs typeface="Arial MT"/>
              </a:rPr>
              <a:t>metabolic</a:t>
            </a:r>
            <a:endParaRPr sz="1100" dirty="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  <a:spcBef>
                <a:spcPts val="160"/>
              </a:spcBef>
            </a:pPr>
            <a:r>
              <a:rPr sz="1100" spc="-10" dirty="0">
                <a:solidFill>
                  <a:srgbClr val="565656"/>
                </a:solidFill>
                <a:latin typeface="Arial MT"/>
                <a:cs typeface="Arial MT"/>
              </a:rPr>
              <a:t>functions.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19047" y="3555970"/>
            <a:ext cx="2992755" cy="72644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760"/>
              </a:spcBef>
            </a:pPr>
            <a:r>
              <a:rPr sz="1300" dirty="0">
                <a:latin typeface="Arial MT"/>
                <a:cs typeface="Arial MT"/>
              </a:rPr>
              <a:t>Vitamin</a:t>
            </a:r>
            <a:r>
              <a:rPr sz="1300" spc="155" dirty="0">
                <a:latin typeface="Arial MT"/>
                <a:cs typeface="Arial MT"/>
              </a:rPr>
              <a:t> </a:t>
            </a:r>
            <a:r>
              <a:rPr sz="1300" spc="-35" dirty="0">
                <a:latin typeface="Arial MT"/>
                <a:cs typeface="Arial MT"/>
              </a:rPr>
              <a:t>A,</a:t>
            </a:r>
            <a:r>
              <a:rPr sz="1300" spc="-155" dirty="0">
                <a:latin typeface="Arial MT"/>
                <a:cs typeface="Arial MT"/>
              </a:rPr>
              <a:t> </a:t>
            </a:r>
            <a:r>
              <a:rPr sz="1300" spc="-35" dirty="0">
                <a:latin typeface="Arial MT"/>
                <a:cs typeface="Arial MT"/>
              </a:rPr>
              <a:t>C,</a:t>
            </a:r>
            <a:r>
              <a:rPr sz="1300" spc="-10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</a:t>
            </a:r>
            <a:r>
              <a:rPr sz="1300" spc="-5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Deficits</a:t>
            </a:r>
            <a:endParaRPr sz="1300" dirty="0">
              <a:latin typeface="Arial MT"/>
              <a:cs typeface="Arial MT"/>
            </a:endParaRPr>
          </a:p>
          <a:p>
            <a:pPr marL="15875" marR="5080" indent="-3810">
              <a:lnSpc>
                <a:spcPct val="129900"/>
              </a:lnSpc>
              <a:spcBef>
                <a:spcPts val="175"/>
              </a:spcBef>
            </a:pPr>
            <a:r>
              <a:rPr sz="1000" dirty="0">
                <a:solidFill>
                  <a:srgbClr val="484848"/>
                </a:solidFill>
                <a:latin typeface="Arial MT"/>
                <a:cs typeface="Arial MT"/>
              </a:rPr>
              <a:t>Insufficient</a:t>
            </a:r>
            <a:r>
              <a:rPr sz="1000" spc="32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4B4B4B"/>
                </a:solidFill>
                <a:latin typeface="Arial MT"/>
                <a:cs typeface="Arial MT"/>
              </a:rPr>
              <a:t>vitamins</a:t>
            </a:r>
            <a:r>
              <a:rPr sz="1000" spc="204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4B4B4B"/>
                </a:solidFill>
                <a:latin typeface="Arial MT"/>
                <a:cs typeface="Arial MT"/>
              </a:rPr>
              <a:t>reduce</a:t>
            </a:r>
            <a:r>
              <a:rPr sz="1000" spc="15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63636"/>
                </a:solidFill>
                <a:latin typeface="Arial MT"/>
                <a:cs typeface="Arial MT"/>
              </a:rPr>
              <a:t>immune</a:t>
            </a:r>
            <a:r>
              <a:rPr sz="1000" spc="10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525252"/>
                </a:solidFill>
                <a:latin typeface="Arial MT"/>
                <a:cs typeface="Arial MT"/>
              </a:rPr>
              <a:t>defenses</a:t>
            </a:r>
            <a:r>
              <a:rPr sz="1000" spc="26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5E5E5E"/>
                </a:solidFill>
                <a:latin typeface="Arial MT"/>
                <a:cs typeface="Arial MT"/>
              </a:rPr>
              <a:t>and </a:t>
            </a:r>
            <a:r>
              <a:rPr sz="1000" dirty="0">
                <a:solidFill>
                  <a:srgbClr val="4D4D4D"/>
                </a:solidFill>
                <a:latin typeface="Arial MT"/>
                <a:cs typeface="Arial MT"/>
              </a:rPr>
              <a:t>metabolic</a:t>
            </a:r>
            <a:r>
              <a:rPr sz="1000" spc="32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424242"/>
                </a:solidFill>
                <a:latin typeface="Arial MT"/>
                <a:cs typeface="Arial MT"/>
              </a:rPr>
              <a:t>efficiency.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06300" y="5059621"/>
            <a:ext cx="3863975" cy="8985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521970">
              <a:lnSpc>
                <a:spcPct val="100000"/>
              </a:lnSpc>
              <a:spcBef>
                <a:spcPts val="615"/>
              </a:spcBef>
            </a:pPr>
            <a:r>
              <a:rPr sz="1300" dirty="0">
                <a:latin typeface="Arial MT"/>
                <a:cs typeface="Arial MT"/>
              </a:rPr>
              <a:t>Increased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Chronic</a:t>
            </a:r>
            <a:r>
              <a:rPr sz="1300" spc="21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Disease</a:t>
            </a:r>
            <a:r>
              <a:rPr sz="1300" spc="5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Vulnerability</a:t>
            </a:r>
            <a:endParaRPr sz="1300" dirty="0">
              <a:latin typeface="Arial MT"/>
              <a:cs typeface="Arial MT"/>
            </a:endParaRPr>
          </a:p>
          <a:p>
            <a:pPr marL="531495" marR="5080" indent="-519430">
              <a:lnSpc>
                <a:spcPct val="115199"/>
              </a:lnSpc>
              <a:spcBef>
                <a:spcPts val="234"/>
              </a:spcBef>
              <a:tabLst>
                <a:tab pos="396875" algn="l"/>
                <a:tab pos="530225" algn="l"/>
              </a:tabLst>
            </a:pPr>
            <a:r>
              <a:rPr sz="1100" u="heavy" dirty="0">
                <a:solidFill>
                  <a:srgbClr val="494949"/>
                </a:solidFill>
                <a:uFill>
                  <a:solidFill>
                    <a:srgbClr val="4F4B64"/>
                  </a:solidFill>
                </a:uFill>
                <a:latin typeface="Arial MT"/>
                <a:cs typeface="Arial MT"/>
              </a:rPr>
              <a:t>	</a:t>
            </a:r>
            <a:r>
              <a:rPr sz="1100" dirty="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sz="1100" spc="-45" dirty="0">
                <a:solidFill>
                  <a:srgbClr val="494949"/>
                </a:solidFill>
                <a:latin typeface="Arial MT"/>
                <a:cs typeface="Arial MT"/>
              </a:rPr>
              <a:t>Combined</a:t>
            </a:r>
            <a:r>
              <a:rPr sz="1100" spc="-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B4B4B"/>
                </a:solidFill>
                <a:latin typeface="Arial MT"/>
                <a:cs typeface="Arial MT"/>
              </a:rPr>
              <a:t>deficits</a:t>
            </a:r>
            <a:r>
              <a:rPr sz="1100" spc="5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6D6D6D"/>
                </a:solidFill>
                <a:latin typeface="Arial MT"/>
                <a:cs typeface="Arial MT"/>
              </a:rPr>
              <a:t>in</a:t>
            </a:r>
            <a:r>
              <a:rPr sz="1100" spc="-30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525252"/>
                </a:solidFill>
                <a:latin typeface="Arial MT"/>
                <a:cs typeface="Arial MT"/>
              </a:rPr>
              <a:t>fiber,</a:t>
            </a:r>
            <a:r>
              <a:rPr sz="110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565656"/>
                </a:solidFill>
                <a:latin typeface="Arial MT"/>
                <a:cs typeface="Arial MT"/>
              </a:rPr>
              <a:t>vitamins,</a:t>
            </a:r>
            <a:r>
              <a:rPr sz="1100" spc="5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595959"/>
                </a:solidFill>
                <a:latin typeface="Arial MT"/>
                <a:cs typeface="Arial MT"/>
              </a:rPr>
              <a:t>minerals</a:t>
            </a:r>
            <a:r>
              <a:rPr sz="11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64646"/>
                </a:solidFill>
                <a:latin typeface="Arial MT"/>
                <a:cs typeface="Arial MT"/>
              </a:rPr>
              <a:t>elevate </a:t>
            </a:r>
            <a:r>
              <a:rPr sz="1100" spc="-20" dirty="0">
                <a:solidFill>
                  <a:srgbClr val="505050"/>
                </a:solidFill>
                <a:latin typeface="Arial MT"/>
                <a:cs typeface="Arial MT"/>
              </a:rPr>
              <a:t>susceplibility</a:t>
            </a:r>
            <a:r>
              <a:rPr sz="1100" spc="-85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F4F4F"/>
                </a:solidFill>
                <a:latin typeface="Arial MT"/>
                <a:cs typeface="Arial MT"/>
              </a:rPr>
              <a:t>to</a:t>
            </a:r>
            <a:r>
              <a:rPr sz="1100" spc="-6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444444"/>
                </a:solidFill>
                <a:latin typeface="Arial MT"/>
                <a:cs typeface="Arial MT"/>
              </a:rPr>
              <a:t>chronic</a:t>
            </a:r>
            <a:r>
              <a:rPr sz="1100" spc="9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100" spc="-30" dirty="0">
                <a:solidFill>
                  <a:srgbClr val="575757"/>
                </a:solidFill>
                <a:latin typeface="Arial MT"/>
                <a:cs typeface="Arial MT"/>
              </a:rPr>
              <a:t>iilnesses</a:t>
            </a:r>
            <a:r>
              <a:rPr sz="1100" spc="114" dirty="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565656"/>
                </a:solidFill>
                <a:latin typeface="Arial MT"/>
                <a:cs typeface="Arial MT"/>
              </a:rPr>
              <a:t>among</a:t>
            </a:r>
            <a:r>
              <a:rPr sz="1100" spc="5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575757"/>
                </a:solidFill>
                <a:latin typeface="Arial MT"/>
                <a:cs typeface="Arial MT"/>
              </a:rPr>
              <a:t>frequent </a:t>
            </a:r>
            <a:r>
              <a:rPr sz="1100" spc="-10" dirty="0">
                <a:solidFill>
                  <a:srgbClr val="4D4D4D"/>
                </a:solidFill>
                <a:latin typeface="Arial MT"/>
                <a:cs typeface="Arial MT"/>
              </a:rPr>
              <a:t>consumers.</a:t>
            </a: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1042" y="5035773"/>
            <a:ext cx="356446" cy="3564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7824" y="1691094"/>
            <a:ext cx="277236" cy="39605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1042" y="4303079"/>
            <a:ext cx="356446" cy="3564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01141" y="3590189"/>
            <a:ext cx="356446" cy="3564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01141" y="2154506"/>
            <a:ext cx="356446" cy="3465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01141" y="2986213"/>
            <a:ext cx="59407" cy="8911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901141" y="2867398"/>
            <a:ext cx="356870" cy="366395"/>
            <a:chOff x="4901141" y="2867398"/>
            <a:chExt cx="356870" cy="366395"/>
          </a:xfrm>
        </p:grpSpPr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19956" y="2867398"/>
              <a:ext cx="237631" cy="792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01141" y="2877299"/>
              <a:ext cx="356446" cy="35644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19956" y="2867398"/>
              <a:ext cx="237631" cy="79210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74017" y="2294070"/>
            <a:ext cx="3104468" cy="1778051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4130" marR="5080" indent="-12065">
              <a:lnSpc>
                <a:spcPts val="3270"/>
              </a:lnSpc>
              <a:spcBef>
                <a:spcPts val="245"/>
              </a:spcBef>
            </a:pPr>
            <a:r>
              <a:rPr sz="2800" b="1" dirty="0">
                <a:latin typeface="Aptos" panose="020B0004020202020204" pitchFamily="34" charset="0"/>
              </a:rPr>
              <a:t>Elective </a:t>
            </a:r>
            <a:r>
              <a:rPr lang="en-IN" sz="2800" b="1" dirty="0">
                <a:latin typeface="Aptos" panose="020B0004020202020204" pitchFamily="34" charset="0"/>
              </a:rPr>
              <a:t>Strategies </a:t>
            </a:r>
            <a:r>
              <a:rPr sz="2800" b="1" dirty="0">
                <a:latin typeface="Aptos" panose="020B0004020202020204" pitchFamily="34" charset="0"/>
              </a:rPr>
              <a:t>to</a:t>
            </a:r>
            <a:r>
              <a:rPr lang="en-IN" sz="2800" b="1" dirty="0">
                <a:latin typeface="Aptos" panose="020B0004020202020204" pitchFamily="34" charset="0"/>
              </a:rPr>
              <a:t> Mitigate </a:t>
            </a:r>
            <a:r>
              <a:rPr sz="2800" b="1" dirty="0">
                <a:latin typeface="Aptos" panose="020B0004020202020204" pitchFamily="34" charset="0"/>
              </a:rPr>
              <a:t>He</a:t>
            </a:r>
            <a:r>
              <a:rPr lang="en-IN" sz="2800" b="1" dirty="0">
                <a:latin typeface="Aptos" panose="020B0004020202020204" pitchFamily="34" charset="0"/>
              </a:rPr>
              <a:t>a</a:t>
            </a:r>
            <a:r>
              <a:rPr sz="2800" b="1" dirty="0">
                <a:latin typeface="Aptos" panose="020B0004020202020204" pitchFamily="34" charset="0"/>
              </a:rPr>
              <a:t>lth</a:t>
            </a:r>
          </a:p>
          <a:p>
            <a:pPr marL="15240">
              <a:lnSpc>
                <a:spcPct val="100000"/>
              </a:lnSpc>
              <a:spcBef>
                <a:spcPts val="250"/>
              </a:spcBef>
            </a:pPr>
            <a:r>
              <a:rPr sz="2800" b="1" dirty="0">
                <a:latin typeface="Aptos" panose="020B0004020202020204" pitchFamily="34" charset="0"/>
              </a:rPr>
              <a:t>Risks from Fast</a:t>
            </a:r>
            <a:r>
              <a:rPr lang="en-IN" sz="2800" b="1" dirty="0">
                <a:latin typeface="Aptos" panose="020B0004020202020204" pitchFamily="34" charset="0"/>
              </a:rPr>
              <a:t> </a:t>
            </a:r>
            <a:r>
              <a:rPr sz="2800" b="1" dirty="0">
                <a:latin typeface="Aptos" panose="020B0004020202020204" pitchFamily="34" charset="0"/>
              </a:rPr>
              <a:t>Food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9900" y="4226055"/>
            <a:ext cx="2911475" cy="407034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310"/>
              </a:spcBef>
            </a:pPr>
            <a:r>
              <a:rPr sz="1100" spc="-40" dirty="0">
                <a:solidFill>
                  <a:srgbClr val="525252"/>
                </a:solidFill>
                <a:latin typeface="Arial MT"/>
                <a:cs typeface="Arial MT"/>
              </a:rPr>
              <a:t>Actionable</a:t>
            </a:r>
            <a:r>
              <a:rPr sz="1100" spc="8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4B4B4B"/>
                </a:solidFill>
                <a:latin typeface="Arial MT"/>
                <a:cs typeface="Arial MT"/>
              </a:rPr>
              <a:t>steps</a:t>
            </a:r>
            <a:r>
              <a:rPr sz="1100" spc="-1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505050"/>
                </a:solidFill>
                <a:latin typeface="Arial MT"/>
                <a:cs typeface="Arial MT"/>
              </a:rPr>
              <a:t>for</a:t>
            </a:r>
            <a:r>
              <a:rPr sz="1100" spc="-40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464646"/>
                </a:solidFill>
                <a:latin typeface="Arial MT"/>
                <a:cs typeface="Arial MT"/>
              </a:rPr>
              <a:t>individuals</a:t>
            </a:r>
            <a:r>
              <a:rPr sz="1100" spc="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85"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z="1100" spc="-2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4B4B4B"/>
                </a:solidFill>
                <a:latin typeface="Arial MT"/>
                <a:cs typeface="Arial MT"/>
              </a:rPr>
              <a:t>policymakers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050" dirty="0">
                <a:solidFill>
                  <a:srgbClr val="545454"/>
                </a:solidFill>
                <a:latin typeface="Arial MT"/>
                <a:cs typeface="Arial MT"/>
              </a:rPr>
              <a:t>to</a:t>
            </a:r>
            <a:r>
              <a:rPr sz="1050" spc="-7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545454"/>
                </a:solidFill>
                <a:latin typeface="Arial MT"/>
                <a:cs typeface="Arial MT"/>
              </a:rPr>
              <a:t>reduce</a:t>
            </a:r>
            <a:r>
              <a:rPr sz="1050" spc="-4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Arial MT"/>
                <a:cs typeface="Arial MT"/>
              </a:rPr>
              <a:t>negative</a:t>
            </a:r>
            <a:r>
              <a:rPr sz="1050" spc="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F4F4F"/>
                </a:solidFill>
                <a:latin typeface="Arial MT"/>
                <a:cs typeface="Arial MT"/>
              </a:rPr>
              <a:t>health</a:t>
            </a:r>
            <a:r>
              <a:rPr sz="1050" spc="-2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4D4D4D"/>
                </a:solidFill>
                <a:latin typeface="Arial MT"/>
                <a:cs typeface="Arial MT"/>
              </a:rPr>
              <a:t>in</a:t>
            </a:r>
            <a:r>
              <a:rPr sz="1050" spc="3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050" spc="-30" dirty="0">
                <a:solidFill>
                  <a:srgbClr val="525252"/>
                </a:solidFill>
                <a:latin typeface="Arial MT"/>
                <a:cs typeface="Arial MT"/>
              </a:rPr>
              <a:t>pact</a:t>
            </a:r>
            <a:r>
              <a:rPr sz="1050" spc="-145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050" spc="-50" dirty="0">
                <a:solidFill>
                  <a:srgbClr val="565656"/>
                </a:solidFill>
                <a:latin typeface="Arial MT"/>
                <a:cs typeface="Arial MT"/>
              </a:rPr>
              <a:t>s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6629" y="2094363"/>
            <a:ext cx="4309110" cy="40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5080" indent="-8255">
              <a:lnSpc>
                <a:spcPct val="117600"/>
              </a:lnSpc>
              <a:spcBef>
                <a:spcPts val="95"/>
              </a:spcBef>
            </a:pPr>
            <a:r>
              <a:rPr sz="1050" spc="-20" dirty="0">
                <a:latin typeface="Arial MT"/>
                <a:cs typeface="Arial MT"/>
              </a:rPr>
              <a:t>Choose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healthier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menu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options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81818"/>
                </a:solidFill>
                <a:latin typeface="Arial MT"/>
                <a:cs typeface="Arial MT"/>
              </a:rPr>
              <a:t>such </a:t>
            </a:r>
            <a:r>
              <a:rPr sz="1050" spc="-10" dirty="0">
                <a:solidFill>
                  <a:srgbClr val="181818"/>
                </a:solidFill>
                <a:latin typeface="Arial MT"/>
                <a:cs typeface="Arial MT"/>
              </a:rPr>
              <a:t>as</a:t>
            </a:r>
            <a:r>
              <a:rPr sz="1050" spc="-5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salads,</a:t>
            </a:r>
            <a:r>
              <a:rPr sz="1050" spc="-4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grilled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items, </a:t>
            </a:r>
            <a:r>
              <a:rPr sz="1050" dirty="0">
                <a:solidFill>
                  <a:srgbClr val="3B3B3B"/>
                </a:solidFill>
                <a:latin typeface="Arial MT"/>
                <a:cs typeface="Arial MT"/>
              </a:rPr>
              <a:t>and</a:t>
            </a:r>
            <a:r>
              <a:rPr sz="1050" spc="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smaller </a:t>
            </a:r>
            <a:r>
              <a:rPr sz="1050" dirty="0">
                <a:latin typeface="Arial MT"/>
                <a:cs typeface="Arial MT"/>
              </a:rPr>
              <a:t>portions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to</a:t>
            </a:r>
            <a:r>
              <a:rPr sz="1050" spc="3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reduce</a:t>
            </a:r>
            <a:r>
              <a:rPr sz="1050" spc="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calorie</a:t>
            </a:r>
            <a:r>
              <a:rPr sz="1050" spc="-3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intake</a:t>
            </a:r>
            <a:endParaRPr sz="105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03767" y="2826025"/>
            <a:ext cx="4419600" cy="40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1270">
              <a:lnSpc>
                <a:spcPct val="1234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Limit</a:t>
            </a:r>
            <a:r>
              <a:rPr sz="1000" spc="17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fast</a:t>
            </a:r>
            <a:r>
              <a:rPr sz="1000" spc="16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food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consumption</a:t>
            </a:r>
            <a:r>
              <a:rPr sz="1000" spc="170" dirty="0"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363636"/>
                </a:solidFill>
                <a:latin typeface="Arial MT"/>
                <a:cs typeface="Arial MT"/>
              </a:rPr>
              <a:t>to</a:t>
            </a:r>
            <a:r>
              <a:rPr sz="1000" spc="17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less</a:t>
            </a:r>
            <a:r>
              <a:rPr sz="1000" spc="1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than</a:t>
            </a:r>
            <a:r>
              <a:rPr sz="1000" spc="8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twice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weekly</a:t>
            </a:r>
            <a:r>
              <a:rPr sz="1000" spc="1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minimize</a:t>
            </a:r>
            <a:r>
              <a:rPr sz="1000" spc="254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adverse </a:t>
            </a:r>
            <a:r>
              <a:rPr sz="1000" dirty="0">
                <a:latin typeface="Arial MT"/>
                <a:cs typeface="Arial MT"/>
              </a:rPr>
              <a:t>health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effects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01186" y="3671345"/>
            <a:ext cx="4255135" cy="1803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00" spc="10" dirty="0">
                <a:latin typeface="Arial MT"/>
                <a:cs typeface="Arial MT"/>
              </a:rPr>
              <a:t>Increase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physical</a:t>
            </a:r>
            <a:r>
              <a:rPr sz="1000" spc="70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activity</a:t>
            </a:r>
            <a:r>
              <a:rPr sz="1000" spc="6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to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offset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excess</a:t>
            </a:r>
            <a:r>
              <a:rPr sz="1000" spc="210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calories</a:t>
            </a:r>
            <a:r>
              <a:rPr sz="1000" spc="225" dirty="0"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from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spc="10" dirty="0">
                <a:solidFill>
                  <a:srgbClr val="161616"/>
                </a:solidFill>
                <a:latin typeface="Arial MT"/>
                <a:cs typeface="Arial MT"/>
              </a:rPr>
              <a:t>fast</a:t>
            </a:r>
            <a:r>
              <a:rPr sz="1000" spc="135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1000" spc="10" dirty="0">
                <a:latin typeface="Arial MT"/>
                <a:cs typeface="Arial MT"/>
              </a:rPr>
              <a:t>food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meals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07187" y="4242937"/>
            <a:ext cx="4580255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69850" indent="-1905">
              <a:lnSpc>
                <a:spcPct val="123700"/>
              </a:lnSpc>
              <a:spcBef>
                <a:spcPts val="100"/>
              </a:spcBef>
            </a:pPr>
            <a:r>
              <a:rPr sz="1050" dirty="0">
                <a:latin typeface="Arial MT"/>
                <a:cs typeface="Arial MT"/>
              </a:rPr>
              <a:t>Support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policies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that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ensure</a:t>
            </a:r>
            <a:r>
              <a:rPr sz="1050" spc="-40" dirty="0">
                <a:latin typeface="Arial MT"/>
                <a:cs typeface="Arial MT"/>
              </a:rPr>
              <a:t> </a:t>
            </a:r>
            <a:r>
              <a:rPr sz="1050" spc="-75" dirty="0">
                <a:latin typeface="Arial MT"/>
                <a:cs typeface="Arial MT"/>
              </a:rPr>
              <a:t>nutñ€ional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transparency</a:t>
            </a:r>
            <a:r>
              <a:rPr sz="1050" spc="90" dirty="0">
                <a:latin typeface="Arial MT"/>
                <a:cs typeface="Arial MT"/>
              </a:rPr>
              <a:t> </a:t>
            </a:r>
            <a:r>
              <a:rPr sz="1050" spc="-35" dirty="0">
                <a:solidFill>
                  <a:srgbClr val="111111"/>
                </a:solidFill>
                <a:latin typeface="Arial MT"/>
                <a:cs typeface="Arial MT"/>
              </a:rPr>
              <a:t>and</a:t>
            </a:r>
            <a:r>
              <a:rPr sz="1050" spc="-85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131313"/>
                </a:solidFill>
                <a:latin typeface="Arial MT"/>
                <a:cs typeface="Arial MT"/>
              </a:rPr>
              <a:t>mandate</a:t>
            </a:r>
            <a:r>
              <a:rPr sz="1050" spc="-5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reduction </a:t>
            </a:r>
            <a:r>
              <a:rPr sz="1050" dirty="0">
                <a:latin typeface="Arial MT"/>
                <a:cs typeface="Arial MT"/>
              </a:rPr>
              <a:t>of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sodium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spc="-20" dirty="0">
                <a:latin typeface="Arial MT"/>
                <a:cs typeface="Arial MT"/>
              </a:rPr>
              <a:t>and</a:t>
            </a:r>
            <a:r>
              <a:rPr sz="1050" spc="-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F0F0F"/>
                </a:solidFill>
                <a:latin typeface="Arial MT"/>
                <a:cs typeface="Arial MT"/>
              </a:rPr>
              <a:t>fat</a:t>
            </a:r>
            <a:r>
              <a:rPr sz="1050" spc="1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content</a:t>
            </a:r>
            <a:endParaRPr sz="10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50" dirty="0">
              <a:latin typeface="Arial MT"/>
              <a:cs typeface="Arial MT"/>
            </a:endParaRPr>
          </a:p>
          <a:p>
            <a:pPr marL="19050" marR="5080" indent="-2540">
              <a:lnSpc>
                <a:spcPct val="107300"/>
              </a:lnSpc>
            </a:pPr>
            <a:r>
              <a:rPr sz="1150" spc="-90" dirty="0">
                <a:latin typeface="Arial MT"/>
                <a:cs typeface="Arial MT"/>
              </a:rPr>
              <a:t>Encourage</a:t>
            </a:r>
            <a:r>
              <a:rPr sz="1150" spc="95" dirty="0">
                <a:latin typeface="Arial MT"/>
                <a:cs typeface="Arial MT"/>
              </a:rPr>
              <a:t> </a:t>
            </a:r>
            <a:r>
              <a:rPr sz="1150" spc="-50" dirty="0">
                <a:latin typeface="Arial MT"/>
                <a:cs typeface="Arial MT"/>
              </a:rPr>
              <a:t>oommunity</a:t>
            </a:r>
            <a:r>
              <a:rPr sz="1150" spc="-10" dirty="0">
                <a:latin typeface="Arial MT"/>
                <a:cs typeface="Arial MT"/>
              </a:rPr>
              <a:t> </a:t>
            </a:r>
            <a:r>
              <a:rPr sz="1150" spc="-55" dirty="0">
                <a:latin typeface="Arial MT"/>
                <a:cs typeface="Arial MT"/>
              </a:rPr>
              <a:t>programs</a:t>
            </a:r>
            <a:r>
              <a:rPr sz="1150" spc="40" dirty="0">
                <a:latin typeface="Arial MT"/>
                <a:cs typeface="Arial MT"/>
              </a:rPr>
              <a:t> </a:t>
            </a:r>
            <a:r>
              <a:rPr sz="1150" spc="-45" dirty="0">
                <a:latin typeface="Arial MT"/>
                <a:cs typeface="Arial MT"/>
              </a:rPr>
              <a:t>that</a:t>
            </a:r>
            <a:r>
              <a:rPr sz="1150" spc="-25" dirty="0">
                <a:latin typeface="Arial MT"/>
                <a:cs typeface="Arial MT"/>
              </a:rPr>
              <a:t> </a:t>
            </a:r>
            <a:r>
              <a:rPr sz="1150" spc="-70" dirty="0">
                <a:latin typeface="Arial MT"/>
                <a:cs typeface="Arial MT"/>
              </a:rPr>
              <a:t>educate</a:t>
            </a:r>
            <a:r>
              <a:rPr sz="1150" spc="15" dirty="0">
                <a:latin typeface="Arial MT"/>
                <a:cs typeface="Arial MT"/>
              </a:rPr>
              <a:t> </a:t>
            </a:r>
            <a:r>
              <a:rPr sz="1150" spc="-60" dirty="0">
                <a:solidFill>
                  <a:srgbClr val="2F2F2F"/>
                </a:solidFill>
                <a:latin typeface="Arial MT"/>
                <a:cs typeface="Arial MT"/>
              </a:rPr>
              <a:t>on</a:t>
            </a:r>
            <a:r>
              <a:rPr sz="1150" spc="-5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150" spc="-75" dirty="0">
                <a:latin typeface="Arial MT"/>
                <a:cs typeface="Arial MT"/>
              </a:rPr>
              <a:t>balanced</a:t>
            </a:r>
            <a:r>
              <a:rPr sz="1150" spc="55" dirty="0">
                <a:latin typeface="Arial MT"/>
                <a:cs typeface="Arial MT"/>
              </a:rPr>
              <a:t> </a:t>
            </a:r>
            <a:r>
              <a:rPr sz="1150" spc="-45" dirty="0">
                <a:latin typeface="Arial MT"/>
                <a:cs typeface="Arial MT"/>
              </a:rPr>
              <a:t>diets </a:t>
            </a:r>
            <a:r>
              <a:rPr sz="1150" spc="-80" dirty="0">
                <a:latin typeface="Arial MT"/>
                <a:cs typeface="Arial MT"/>
              </a:rPr>
              <a:t>and</a:t>
            </a:r>
            <a:r>
              <a:rPr sz="1150" spc="-40" dirty="0">
                <a:latin typeface="Arial MT"/>
                <a:cs typeface="Arial MT"/>
              </a:rPr>
              <a:t> </a:t>
            </a:r>
            <a:r>
              <a:rPr sz="1150" spc="-45" dirty="0">
                <a:latin typeface="Arial MT"/>
                <a:cs typeface="Arial MT"/>
              </a:rPr>
              <a:t>healthier lifestyle</a:t>
            </a:r>
            <a:r>
              <a:rPr sz="1150" spc="-25" dirty="0">
                <a:latin typeface="Arial MT"/>
                <a:cs typeface="Arial MT"/>
              </a:rPr>
              <a:t> </a:t>
            </a:r>
            <a:r>
              <a:rPr sz="1150" spc="-10" dirty="0">
                <a:latin typeface="Arial MT"/>
                <a:cs typeface="Arial MT"/>
              </a:rPr>
              <a:t>choices</a:t>
            </a:r>
            <a:endParaRPr sz="115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800" y="3708941"/>
            <a:ext cx="336644" cy="3762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0716" y="3708941"/>
            <a:ext cx="376249" cy="3762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5941" y="3708941"/>
            <a:ext cx="277236" cy="3762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1957" y="3708941"/>
            <a:ext cx="326742" cy="3861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9500" y="1504518"/>
            <a:ext cx="8788819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130"/>
              </a:spcBef>
            </a:pPr>
            <a:r>
              <a:rPr lang="en-IN" sz="2800" b="1" spc="7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Targeted Strategies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to</a:t>
            </a:r>
            <a:r>
              <a:rPr sz="2800" b="1" spc="7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lang="en-IN" sz="2800" b="1" spc="10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Mitigate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F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a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s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t </a:t>
            </a:r>
            <a:r>
              <a:rPr sz="2800" b="1" spc="-75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Food</a:t>
            </a:r>
            <a:r>
              <a:rPr sz="2800" b="1" spc="-11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800" b="1" spc="8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He</a:t>
            </a:r>
            <a:r>
              <a:rPr lang="en-IN" sz="2800" b="1" spc="8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a</a:t>
            </a:r>
            <a:r>
              <a:rPr sz="2800" b="1" spc="8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lth</a:t>
            </a:r>
            <a:r>
              <a:rPr sz="2800" b="1" spc="-114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 </a:t>
            </a:r>
            <a:r>
              <a:rPr sz="2800" b="1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Footlight MT Light" panose="0204060206030A020304" pitchFamily="18" charset="0"/>
              </a:rPr>
              <a:t>Risks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0595" y="4289885"/>
            <a:ext cx="1895475" cy="782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16399"/>
              </a:lnSpc>
              <a:spcBef>
                <a:spcPts val="55"/>
              </a:spcBef>
            </a:pPr>
            <a:r>
              <a:rPr sz="1050" spc="-20" dirty="0">
                <a:latin typeface="Arial MT"/>
                <a:cs typeface="Arial MT"/>
              </a:rPr>
              <a:t>Governments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should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enforce </a:t>
            </a:r>
            <a:r>
              <a:rPr sz="1100" spc="-20" dirty="0">
                <a:latin typeface="Arial MT"/>
                <a:cs typeface="Arial MT"/>
              </a:rPr>
              <a:t>labeling</a:t>
            </a:r>
            <a:r>
              <a:rPr sz="1100" spc="-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regulations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0E0E0E"/>
                </a:solidFill>
                <a:latin typeface="Arial MT"/>
                <a:cs typeface="Arial MT"/>
              </a:rPr>
              <a:t>and</a:t>
            </a:r>
            <a:r>
              <a:rPr sz="1100" spc="-3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restrict </a:t>
            </a:r>
            <a:r>
              <a:rPr sz="1050" dirty="0">
                <a:latin typeface="Arial MT"/>
                <a:cs typeface="Arial MT"/>
              </a:rPr>
              <a:t>trans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fats </a:t>
            </a:r>
            <a:r>
              <a:rPr sz="1050" spc="-25" dirty="0">
                <a:latin typeface="Arial MT"/>
                <a:cs typeface="Arial MT"/>
              </a:rPr>
              <a:t>and </a:t>
            </a:r>
            <a:r>
              <a:rPr sz="1050" dirty="0">
                <a:latin typeface="Arial MT"/>
                <a:cs typeface="Arial MT"/>
              </a:rPr>
              <a:t>sodium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</a:t>
            </a:r>
            <a:r>
              <a:rPr sz="1050" spc="-25" dirty="0"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111111"/>
                </a:solidFill>
                <a:latin typeface="Arial MT"/>
                <a:cs typeface="Arial MT"/>
              </a:rPr>
              <a:t>fast </a:t>
            </a:r>
            <a:r>
              <a:rPr sz="1100" spc="-20" dirty="0">
                <a:latin typeface="Arial MT"/>
                <a:cs typeface="Arial MT"/>
              </a:rPr>
              <a:t>food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131313"/>
                </a:solidFill>
                <a:latin typeface="Arial MT"/>
                <a:cs typeface="Arial MT"/>
              </a:rPr>
              <a:t>products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2100" y="2420577"/>
            <a:ext cx="4719980" cy="6001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pc="-70" dirty="0">
                <a:solidFill>
                  <a:srgbClr val="505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Coordinated </a:t>
            </a:r>
            <a:r>
              <a:rPr spc="20" dirty="0">
                <a:solidFill>
                  <a:srgbClr val="505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5" dirty="0">
                <a:solidFill>
                  <a:srgbClr val="4646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efforts</a:t>
            </a:r>
            <a:r>
              <a:rPr spc="-10" dirty="0">
                <a:solidFill>
                  <a:srgbClr val="4646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80" dirty="0">
                <a:solidFill>
                  <a:srgbClr val="5454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pc="-20" dirty="0">
                <a:solidFill>
                  <a:srgbClr val="5454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70" dirty="0">
                <a:solidFill>
                  <a:srgbClr val="4B4B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governments,</a:t>
            </a:r>
            <a:r>
              <a:rPr spc="50" dirty="0">
                <a:solidFill>
                  <a:srgbClr val="4B4B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communities,</a:t>
            </a:r>
            <a:r>
              <a:rPr spc="90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14" dirty="0">
                <a:solidFill>
                  <a:srgbClr val="4949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pc="-25" dirty="0">
                <a:solidFill>
                  <a:srgbClr val="4949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40" dirty="0">
                <a:solidFill>
                  <a:srgbClr val="56565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individuals</a:t>
            </a:r>
            <a:r>
              <a:rPr spc="30" dirty="0">
                <a:solidFill>
                  <a:srgbClr val="56565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0" dirty="0">
                <a:solidFill>
                  <a:srgbClr val="4B4B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spc="-15" dirty="0">
                <a:solidFill>
                  <a:srgbClr val="4B4B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pc="-90" dirty="0">
                <a:solidFill>
                  <a:srgbClr val="4949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diseases </a:t>
            </a:r>
            <a:r>
              <a:rPr spc="-20" dirty="0">
                <a:solidFill>
                  <a:srgbClr val="52525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burden</a:t>
            </a:r>
            <a:r>
              <a:rPr lang="en-IN" sz="2000" spc="-20" dirty="0">
                <a:solidFill>
                  <a:srgbClr val="52525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9880" y="4284128"/>
            <a:ext cx="1814195" cy="78803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8890" rIns="0" bIns="0" rtlCol="0">
            <a:spAutoFit/>
          </a:bodyPr>
          <a:lstStyle/>
          <a:p>
            <a:pPr marL="12700" marR="5080" indent="-3810" algn="ctr">
              <a:lnSpc>
                <a:spcPct val="114199"/>
              </a:lnSpc>
              <a:spcBef>
                <a:spcPts val="70"/>
              </a:spcBef>
            </a:pPr>
            <a:r>
              <a:rPr sz="1100" spc="-35" dirty="0">
                <a:latin typeface="Arial MT"/>
                <a:cs typeface="Arial MT"/>
              </a:rPr>
              <a:t>Communities</a:t>
            </a:r>
            <a:r>
              <a:rPr sz="1100" spc="14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need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494949"/>
                </a:solidFill>
                <a:latin typeface="Arial MT"/>
                <a:cs typeface="Arial MT"/>
              </a:rPr>
              <a:t>to</a:t>
            </a:r>
            <a:r>
              <a:rPr sz="1100" spc="-6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expand </a:t>
            </a:r>
            <a:r>
              <a:rPr sz="1100" dirty="0">
                <a:latin typeface="Arial MT"/>
                <a:cs typeface="Arial MT"/>
              </a:rPr>
              <a:t>nutrition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education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programs </a:t>
            </a:r>
            <a:r>
              <a:rPr sz="1100" spc="-50" dirty="0">
                <a:solidFill>
                  <a:srgbClr val="1F1F1F"/>
                </a:solidFill>
                <a:latin typeface="Arial MT"/>
                <a:cs typeface="Arial MT"/>
              </a:rPr>
              <a:t>and</a:t>
            </a:r>
            <a:r>
              <a:rPr sz="11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improve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access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9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healthy </a:t>
            </a:r>
            <a:r>
              <a:rPr sz="1100" spc="-30" dirty="0">
                <a:latin typeface="Arial MT"/>
                <a:cs typeface="Arial MT"/>
              </a:rPr>
              <a:t>food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alternatives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2150" y="4296298"/>
            <a:ext cx="1979930" cy="7759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6350" rIns="0" bIns="0" rtlCol="0">
            <a:spAutoFit/>
          </a:bodyPr>
          <a:lstStyle/>
          <a:p>
            <a:pPr marL="12065" marR="5080" indent="-1905" algn="ctr">
              <a:lnSpc>
                <a:spcPct val="112799"/>
              </a:lnSpc>
              <a:spcBef>
                <a:spcPts val="50"/>
              </a:spcBef>
            </a:pPr>
            <a:r>
              <a:rPr sz="1050" spc="-10" dirty="0">
                <a:latin typeface="Arial MT"/>
                <a:cs typeface="Arial MT"/>
              </a:rPr>
              <a:t>Individuals</a:t>
            </a:r>
            <a:r>
              <a:rPr sz="1050" spc="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must</a:t>
            </a:r>
            <a:r>
              <a:rPr sz="1050" spc="1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focus</a:t>
            </a:r>
            <a:r>
              <a:rPr sz="1050" spc="50" dirty="0"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151515"/>
                </a:solidFill>
                <a:latin typeface="Arial MT"/>
                <a:cs typeface="Arial MT"/>
              </a:rPr>
              <a:t>on </a:t>
            </a:r>
            <a:r>
              <a:rPr sz="1150" spc="-70" dirty="0">
                <a:latin typeface="Arial MT"/>
                <a:cs typeface="Arial MT"/>
              </a:rPr>
              <a:t>balaneed</a:t>
            </a:r>
            <a:r>
              <a:rPr sz="1150" spc="-60" dirty="0">
                <a:latin typeface="Arial MT"/>
                <a:cs typeface="Arial MT"/>
              </a:rPr>
              <a:t> </a:t>
            </a:r>
            <a:r>
              <a:rPr sz="1150" spc="-70" dirty="0">
                <a:latin typeface="Arial MT"/>
                <a:cs typeface="Arial MT"/>
              </a:rPr>
              <a:t>meals,</a:t>
            </a:r>
            <a:r>
              <a:rPr sz="1150" dirty="0">
                <a:latin typeface="Arial MT"/>
                <a:cs typeface="Arial MT"/>
              </a:rPr>
              <a:t> </a:t>
            </a:r>
            <a:r>
              <a:rPr sz="1150" spc="-75" dirty="0">
                <a:solidFill>
                  <a:srgbClr val="1A1A1A"/>
                </a:solidFill>
                <a:latin typeface="Arial MT"/>
                <a:cs typeface="Arial MT"/>
              </a:rPr>
              <a:t>plan</a:t>
            </a:r>
            <a:r>
              <a:rPr sz="1150" spc="50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150" spc="-100" dirty="0">
                <a:latin typeface="Arial MT"/>
                <a:cs typeface="Arial MT"/>
              </a:rPr>
              <a:t>ahead</a:t>
            </a:r>
            <a:r>
              <a:rPr sz="1150" spc="10" dirty="0">
                <a:latin typeface="Arial MT"/>
                <a:cs typeface="Arial MT"/>
              </a:rPr>
              <a:t> </a:t>
            </a:r>
            <a:r>
              <a:rPr sz="1150" spc="-25" dirty="0">
                <a:latin typeface="Arial MT"/>
                <a:cs typeface="Arial MT"/>
              </a:rPr>
              <a:t>to </a:t>
            </a:r>
            <a:r>
              <a:rPr sz="1100" dirty="0">
                <a:latin typeface="Arial MT"/>
                <a:cs typeface="Arial MT"/>
              </a:rPr>
              <a:t>limit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fast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food</a:t>
            </a:r>
            <a:r>
              <a:rPr sz="1100" spc="-40" dirty="0">
                <a:latin typeface="Arial MT"/>
                <a:cs typeface="Arial MT"/>
              </a:rPr>
              <a:t> consumption,</a:t>
            </a:r>
            <a:r>
              <a:rPr sz="1100" spc="6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spc="-30" dirty="0">
                <a:latin typeface="Arial MT"/>
                <a:cs typeface="Arial MT"/>
              </a:rPr>
              <a:t>maintain</a:t>
            </a:r>
            <a:r>
              <a:rPr sz="1100" spc="-20" dirty="0">
                <a:latin typeface="Arial MT"/>
                <a:cs typeface="Arial MT"/>
              </a:rPr>
              <a:t> regular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physical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acdvity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20680" y="4281652"/>
            <a:ext cx="1950085" cy="7880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25600"/>
              </a:lnSpc>
              <a:spcBef>
                <a:spcPts val="70"/>
              </a:spcBef>
            </a:pPr>
            <a:r>
              <a:rPr sz="1000" dirty="0">
                <a:latin typeface="Arial MT"/>
                <a:cs typeface="Arial MT"/>
              </a:rPr>
              <a:t>Collective</a:t>
            </a:r>
            <a:r>
              <a:rPr sz="1000" spc="1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action</a:t>
            </a:r>
            <a:r>
              <a:rPr sz="1000" spc="140" dirty="0"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E0E0E"/>
                </a:solidFill>
                <a:latin typeface="Arial MT"/>
                <a:cs typeface="Arial MT"/>
              </a:rPr>
              <a:t>across</a:t>
            </a:r>
            <a:r>
              <a:rPr sz="1000" spc="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all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levels </a:t>
            </a:r>
            <a:r>
              <a:rPr sz="1000" dirty="0">
                <a:latin typeface="Arial MT"/>
                <a:cs typeface="Arial MT"/>
              </a:rPr>
              <a:t>can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effectively</a:t>
            </a:r>
            <a:r>
              <a:rPr sz="1000" spc="11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reduce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health</a:t>
            </a:r>
            <a:r>
              <a:rPr sz="1000" spc="50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risks</a:t>
            </a:r>
            <a:r>
              <a:rPr sz="1000" spc="10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linked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19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fast</a:t>
            </a:r>
            <a:r>
              <a:rPr sz="1000" spc="1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food </a:t>
            </a:r>
            <a:r>
              <a:rPr sz="1000" spc="-10" dirty="0">
                <a:latin typeface="Arial MT"/>
                <a:cs typeface="Arial MT"/>
              </a:rPr>
              <a:t>consumption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569" y="2330450"/>
            <a:ext cx="10406261" cy="44852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8430" y="976682"/>
            <a:ext cx="9498870" cy="8758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SUMMARY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and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Future Directions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 toward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 He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a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l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their  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 Food H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a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lgerian" panose="04020705040A02060702" pitchFamily="82" charset="0"/>
                <a:cs typeface="Calibri"/>
              </a:rPr>
              <a:t>bits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192</TotalTime>
  <Words>962</Words>
  <Application>Microsoft Office PowerPoint</Application>
  <PresentationFormat>Custom</PresentationFormat>
  <Paragraphs>106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Algerian</vt:lpstr>
      <vt:lpstr>Aptos</vt:lpstr>
      <vt:lpstr>Arial</vt:lpstr>
      <vt:lpstr>Arial MT</vt:lpstr>
      <vt:lpstr>Calibri</vt:lpstr>
      <vt:lpstr>Cambria</vt:lpstr>
      <vt:lpstr>Consolas</vt:lpstr>
      <vt:lpstr>Courier New</vt:lpstr>
      <vt:lpstr>Footlight MT Light</vt:lpstr>
      <vt:lpstr>Trebuchet MS</vt:lpstr>
      <vt:lpstr>Wingdings 3</vt:lpstr>
      <vt:lpstr>Facet</vt:lpstr>
      <vt:lpstr>Fast Food Consumption Survey</vt:lpstr>
      <vt:lpstr>UNDERSTANDING FAST  Food's Role and Health Consequences</vt:lpstr>
      <vt:lpstr>Critical Health Risks of Regular fast  Food Intake </vt:lpstr>
      <vt:lpstr>Survey Scope, Goals, and Methodology Overview</vt:lpstr>
      <vt:lpstr>Fast Fod Consumption by Age, Gender &amp; Income</vt:lpstr>
      <vt:lpstr>Top fast  Food Choices Revealed by Survey</vt:lpstr>
      <vt:lpstr>Fast  Food Frequency Strongly Linked to Health Risks</vt:lpstr>
      <vt:lpstr>Common Misconceptions About Fast Food and Health</vt:lpstr>
      <vt:lpstr>Case Studies Linking Fast Food to Health Risks</vt:lpstr>
      <vt:lpstr>Health Impacts  of FAST  Food Across Demographics</vt:lpstr>
      <vt:lpstr>Nutritional Deficits in Fast Food Diets Driving Chronic Risks</vt:lpstr>
      <vt:lpstr>Elective Strategies to Mitigate Health Risks from Fast Food</vt:lpstr>
      <vt:lpstr>Targeted Strategies  to Mitigate Fast  Food Health Risks</vt:lpstr>
      <vt:lpstr>SUMMARY  and Future Directions toward  Healtheir   Food Habits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DALJEET SINGH</dc:creator>
  <cp:lastModifiedBy>Mehak Negi</cp:lastModifiedBy>
  <cp:revision>6</cp:revision>
  <dcterms:created xsi:type="dcterms:W3CDTF">2025-11-01T15:16:29Z</dcterms:created>
  <dcterms:modified xsi:type="dcterms:W3CDTF">2025-11-02T07:37:18Z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LastSaved">
    <vt:filetime>2025-11-01T00:00:00Z</vt:filetime>
  </property>
  <property fmtid="{D5CDD505-2E9C-101B-9397-08002B2CF9AE}" pid="4" name="Producer">
    <vt:lpwstr>iText® 5.5.1 ©2000-2014 iText Group NV (AGPL-version)</vt:lpwstr>
  </property>
</Properties>
</file>